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7562088" cy="10689336"/>
  <p:notesSz cx="10689336" cy="7562088"/>
  <p:embeddedFontLst>
    <p:embeddedFont>
      <p:font typeface="Source Sans 3 ExtraLight"/>
      <p:regular r:id="rId201314"/>
    </p:embeddedFont>
    <p:embeddedFont>
      <p:font typeface="Source Sans 3 Light"/>
      <p:regular r:id="rId201315"/>
    </p:embeddedFont>
    <p:embeddedFont>
      <p:font typeface="Source Sans 3"/>
      <p:regular r:id="rId201316"/>
    </p:embeddedFont>
    <p:embeddedFont>
      <p:font typeface="Source Sans 3 Medium"/>
      <p:regular r:id="rId201317"/>
    </p:embeddedFont>
    <p:embeddedFont>
      <p:font typeface="Source Sans 3 SemiBold"/>
      <p:regular r:id="rId201318"/>
    </p:embeddedFont>
    <p:embeddedFont>
      <p:font typeface="Source Sans 3 Bold"/>
      <p:regular r:id="rId201319"/>
    </p:embeddedFont>
    <p:embeddedFont>
      <p:font typeface="Source Sans 3 ExtraBold"/>
      <p:regular r:id="rId201320"/>
    </p:embeddedFont>
    <p:embeddedFont>
      <p:font typeface="Source Sans 3 Black"/>
      <p:regular r:id="rId201321"/>
    </p:embeddedFont>
    <p:embeddedFont>
      <p:font typeface="Source Serif 4 ExtraLight"/>
      <p:regular r:id="rId201322"/>
    </p:embeddedFont>
    <p:embeddedFont>
      <p:font typeface="Source Serif 4 Light"/>
      <p:regular r:id="rId201323"/>
    </p:embeddedFont>
    <p:embeddedFont>
      <p:font typeface="Source Serif 4"/>
      <p:regular r:id="rId201324"/>
    </p:embeddedFont>
    <p:embeddedFont>
      <p:font typeface="Source Serif 4 Medium"/>
      <p:regular r:id="rId201325"/>
    </p:embeddedFont>
    <p:embeddedFont>
      <p:font typeface="Source Serif 4 SemiBold"/>
      <p:regular r:id="rId201326"/>
    </p:embeddedFont>
    <p:embeddedFont>
      <p:font typeface="Source Serif 4 Bold"/>
      <p:regular r:id="rId201327"/>
    </p:embeddedFont>
    <p:embeddedFont>
      <p:font typeface="Source Serif 4 ExtraBold"/>
      <p:regular r:id="rId201328"/>
    </p:embeddedFont>
    <p:embeddedFont>
      <p:font typeface="Source Serif 4 Black"/>
      <p:regular r:id="rId2013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3" Type="http://schemas.openxmlformats.org/officeDocument/2006/relationships/image" Target="../media/image-1002-3.png"/><Relationship Id="rId5"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562026" cy="10689336"/>
          </a:xfrm>
          <a:prstGeom prst="rect">
            <a:avLst/>
          </a:prstGeom>
        </p:spPr>
      </p:pic>
      <p:sp>
        <p:nvSpPr>
          <p:cNvPr id="3" name="Shape 0"/>
          <p:cNvSpPr/>
          <p:nvPr/>
        </p:nvSpPr>
        <p:spPr>
          <a:xfrm>
            <a:off x="0" y="0"/>
            <a:ext cx="7562026" cy="10689336"/>
          </a:xfrm>
          <a:prstGeom prst="rect">
            <a:avLst/>
          </a:prstGeom>
          <a:solidFill>
            <a:srgbClr val="FFFFFF">
              <a:alpha val="95000"/>
            </a:srgbClr>
          </a:solidFill>
          <a:ln/>
        </p:spPr>
      </p:sp>
      <p:pic>
        <p:nvPicPr>
          <p:cNvPr id="4" name="Image 1" descr="preencoded.png">    </p:cNvPr>
          <p:cNvPicPr>
            <a:picLocks noChangeAspect="1"/>
          </p:cNvPicPr>
          <p:nvPr/>
        </p:nvPicPr>
        <p:blipFill>
          <a:blip r:embed="rId2"/>
          <a:stretch>
            <a:fillRect/>
          </a:stretch>
        </p:blipFill>
        <p:spPr>
          <a:xfrm>
            <a:off x="0" y="0"/>
            <a:ext cx="7562026" cy="10689336"/>
          </a:xfrm>
          <a:prstGeom prst="rect">
            <a:avLst/>
          </a:prstGeom>
        </p:spPr>
      </p:pic>
      <p:sp>
        <p:nvSpPr>
          <p:cNvPr id="5" name="Shape 1"/>
          <p:cNvSpPr/>
          <p:nvPr/>
        </p:nvSpPr>
        <p:spPr>
          <a:xfrm>
            <a:off x="0" y="0"/>
            <a:ext cx="7562026" cy="10689336"/>
          </a:xfrm>
          <a:prstGeom prst="rect">
            <a:avLst/>
          </a:prstGeom>
          <a:solidFill>
            <a:srgbClr val="FFFFFF">
              <a:alpha val="85000"/>
            </a:srgbClr>
          </a:solidFill>
          <a:ln/>
        </p:spPr>
      </p:sp>
      <p:pic>
        <p:nvPicPr>
          <p:cNvPr id="6" name="Image 2" descr="preencoded.png">
            <a:hlinkClick r:id="rId4" tooltip=""/>
          </p:cNvPr>
          <p:cNvPicPr>
            <a:picLocks noChangeAspect="1"/>
          </p:cNvPicPr>
          <p:nvPr/>
        </p:nvPicPr>
        <p:blipFill>
          <a:blip r:embed="rId3"/>
          <a:stretch>
            <a:fillRect/>
          </a:stretch>
        </p:blipFill>
        <p:spPr>
          <a:xfrm>
            <a:off x="6447268" y="10390327"/>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7562026" cy="10689336"/>
          </a:xfrm>
          <a:prstGeom prst="rect">
            <a:avLst/>
          </a:prstGeom>
        </p:spPr>
      </p:pic>
      <p:sp>
        <p:nvSpPr>
          <p:cNvPr id="3" name="Shape 0"/>
          <p:cNvSpPr/>
          <p:nvPr/>
        </p:nvSpPr>
        <p:spPr>
          <a:xfrm>
            <a:off x="0" y="0"/>
            <a:ext cx="7562026" cy="10689336"/>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6447268" y="10390327"/>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1.png"/><Relationship Id="rId10" Type="http://schemas.openxmlformats.org/officeDocument/2006/relationships/image" Target="../media/image-4-2.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3.png"/><Relationship Id="rId14" Type="http://schemas.openxmlformats.org/officeDocument/2006/relationships/image" Target="../media/image-4-14.svg"/><Relationship Id="rId15" Type="http://schemas.openxmlformats.org/officeDocument/2006/relationships/image" Target="../media/image-4-15.png"/><Relationship Id="rId16" Type="http://schemas.openxmlformats.org/officeDocument/2006/relationships/image" Target="../media/image-4-16.svg"/><Relationship Id="rId17" Type="http://schemas.openxmlformats.org/officeDocument/2006/relationships/image" Target="../media/image-4-13.png"/><Relationship Id="rId18" Type="http://schemas.openxmlformats.org/officeDocument/2006/relationships/image" Target="../media/image-4-14.svg"/><Relationship Id="rId19" Type="http://schemas.openxmlformats.org/officeDocument/2006/relationships/image" Target="../media/image-4-19.png"/><Relationship Id="rId20" Type="http://schemas.openxmlformats.org/officeDocument/2006/relationships/image" Target="../media/image-4-20.svg"/><Relationship Id="rId21" Type="http://schemas.openxmlformats.org/officeDocument/2006/relationships/slideLayout" Target="../slideLayouts/slideLayout3.xml"/><Relationship Id="rId2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11832" y="402167"/>
            <a:ext cx="6538363" cy="860336"/>
          </a:xfrm>
          <a:prstGeom prst="rect">
            <a:avLst/>
          </a:prstGeom>
          <a:noFill/>
          <a:ln/>
        </p:spPr>
        <p:txBody>
          <a:bodyPr wrap="square" lIns="0" tIns="0" rIns="0" bIns="0" rtlCol="0" anchor="t">
            <a:normAutofit/>
          </a:bodyPr>
          <a:lstStyle/>
          <a:p>
            <a:pPr algn="ctr" indent="0" marL="0">
              <a:lnSpc>
                <a:spcPct val="104000"/>
              </a:lnSpc>
              <a:buNone/>
            </a:pPr>
            <a:r>
              <a:rPr lang="en-US" sz="2700" dirty="0">
                <a:solidFill>
                  <a:srgbClr val="000000"/>
                </a:solidFill>
                <a:latin typeface="Source Serif 4 SemiBold" pitchFamily="34" charset="0"/>
                <a:ea typeface="Source Serif 4 SemiBold" pitchFamily="34" charset="-122"/>
                <a:cs typeface="Source Serif 4 SemiBold" pitchFamily="34" charset="-120"/>
              </a:rPr>
              <a:t>Online Expense Tracker System — ExBot</a:t>
            </a:r>
            <a:endParaRPr lang="en-US" sz="2700" dirty="0"/>
          </a:p>
        </p:txBody>
      </p:sp>
      <p:sp>
        <p:nvSpPr>
          <p:cNvPr id="3" name="Text 1"/>
          <p:cNvSpPr/>
          <p:nvPr/>
        </p:nvSpPr>
        <p:spPr>
          <a:xfrm>
            <a:off x="511832" y="1481833"/>
            <a:ext cx="6538363" cy="468077"/>
          </a:xfrm>
          <a:prstGeom prst="rect">
            <a:avLst/>
          </a:prstGeom>
          <a:noFill/>
          <a:ln/>
        </p:spPr>
        <p:txBody>
          <a:bodyPr wrap="square" lIns="0" tIns="0" rIns="0" bIns="0" rtlCol="0" anchor="t">
            <a:normAutofit/>
          </a:bodyPr>
          <a:lstStyle/>
          <a:p>
            <a:pPr algn="ctr"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Project by Gondaliya Abhay S. (En. No. 24CS0020G02894) — Guide: Prof. Vipul  Baldha</a:t>
            </a:r>
            <a:endParaRPr lang="en-US" sz="1150" dirty="0"/>
          </a:p>
          <a:p>
            <a:pPr algn="ctr"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Kamani Science &amp; Pratapray Arts College, Saurashtra University, Rajkot — BCA (BCA) 2026-2027</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11832" y="402167"/>
            <a:ext cx="6538363" cy="430168"/>
          </a:xfrm>
          <a:prstGeom prst="rect">
            <a:avLst/>
          </a:prstGeom>
          <a:noFill/>
          <a:ln/>
        </p:spPr>
        <p:txBody>
          <a:bodyPr wrap="none" lIns="0" tIns="0" rIns="0" bIns="0" rtlCol="0" anchor="t"/>
          <a:lstStyle/>
          <a:p>
            <a:pPr algn="l" indent="0" marL="0">
              <a:lnSpc>
                <a:spcPct val="104000"/>
              </a:lnSpc>
              <a:buNone/>
            </a:pPr>
            <a:r>
              <a:rPr lang="en-US" sz="2700" dirty="0">
                <a:solidFill>
                  <a:srgbClr val="000000"/>
                </a:solidFill>
                <a:latin typeface="Source Serif 4 SemiBold" pitchFamily="34" charset="0"/>
                <a:ea typeface="Source Serif 4 SemiBold" pitchFamily="34" charset="-122"/>
                <a:cs typeface="Source Serif 4 SemiBold" pitchFamily="34" charset="-120"/>
              </a:rPr>
              <a:t>Executive Summary</a:t>
            </a:r>
            <a:endParaRPr lang="en-US" sz="2700" dirty="0"/>
          </a:p>
        </p:txBody>
      </p:sp>
      <p:sp>
        <p:nvSpPr>
          <p:cNvPr id="3" name="Text 1"/>
          <p:cNvSpPr/>
          <p:nvPr/>
        </p:nvSpPr>
        <p:spPr>
          <a:xfrm>
            <a:off x="511832" y="1051665"/>
            <a:ext cx="6538363" cy="2972959"/>
          </a:xfrm>
          <a:prstGeom prst="rect">
            <a:avLst/>
          </a:prstGeom>
          <a:noFill/>
          <a:ln/>
        </p:spPr>
        <p:txBody>
          <a:bodyPr wrap="square" lIns="0" tIns="0" rIns="0" bIns="0" rtlCol="0" anchor="t">
            <a:normAutofit/>
          </a:bodyPr>
          <a:lstStyle/>
          <a:p>
            <a:pPr algn="l" indent="0" marL="0">
              <a:lnSpc>
                <a:spcPct val="133000"/>
              </a:lnSpc>
              <a:spcAft>
                <a:spcPts val="1250"/>
              </a:spcAft>
              <a:buNone/>
            </a:pPr>
            <a:r>
              <a:rPr lang="en-US" sz="1150" dirty="0">
                <a:solidFill>
                  <a:srgbClr val="272525"/>
                </a:solidFill>
                <a:latin typeface="Source Sans 3" pitchFamily="34" charset="0"/>
                <a:ea typeface="Source Sans 3" pitchFamily="34" charset="-122"/>
                <a:cs typeface="Source Sans 3" pitchFamily="34" charset="-120"/>
              </a:rPr>
              <a:t>The Online Expense Tracker System, ExBot, addresses the common challenge of managing personal and business finances efficiently. In an increasingly complex financial landscape, individuals and small businesses often struggle with manual expense tracking methods, leading to inaccuracies, missed deductions, and a lack of real-time insight into spending habits. This project aims to develop a robust, intuitive, and secure web-based solution that simplifies the process of logging, categorizing, and analyzing expenditures.</a:t>
            </a:r>
            <a:endParaRPr lang="en-US" sz="1150" dirty="0"/>
          </a:p>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ExBot is designed to empower users with greater financial control and informed decision-making. By providing a centralized platform for all financial transactions, the system eliminates the tediousness of paper-based records and disparate spreadsheets. It offers features such as automatic categorization suggestions, customizable reporting, and visual dashboards, transforming raw financial data into actionable intelligence. The system's core objective is to enhance financial literacy and promote healthier spending patterns by making expense management accessible and insightful for everyone.</a:t>
            </a:r>
            <a:endParaRPr lang="en-US" sz="1150" dirty="0"/>
          </a:p>
        </p:txBody>
      </p:sp>
      <p:sp>
        <p:nvSpPr>
          <p:cNvPr id="4" name="Shape 2"/>
          <p:cNvSpPr/>
          <p:nvPr/>
        </p:nvSpPr>
        <p:spPr>
          <a:xfrm>
            <a:off x="511832" y="4189122"/>
            <a:ext cx="2081974" cy="1570759"/>
          </a:xfrm>
          <a:prstGeom prst="roundRect">
            <a:avLst>
              <a:gd name="adj" fmla="val 3911"/>
            </a:avLst>
          </a:prstGeom>
          <a:solidFill>
            <a:srgbClr val="FFFFFF">
              <a:alpha val="95000"/>
            </a:srgbClr>
          </a:solidFill>
          <a:ln w="19693">
            <a:solidFill>
              <a:srgbClr val="D6BADD"/>
            </a:solidFill>
            <a:prstDash val="solid"/>
          </a:ln>
        </p:spPr>
      </p:sp>
      <p:sp>
        <p:nvSpPr>
          <p:cNvPr id="5" name="Text 3"/>
          <p:cNvSpPr/>
          <p:nvPr/>
        </p:nvSpPr>
        <p:spPr>
          <a:xfrm>
            <a:off x="677745" y="4355035"/>
            <a:ext cx="1750148"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Problem Identified</a:t>
            </a:r>
            <a:endParaRPr lang="en-US" sz="1350" dirty="0"/>
          </a:p>
        </p:txBody>
      </p:sp>
      <p:sp>
        <p:nvSpPr>
          <p:cNvPr id="6" name="Text 4"/>
          <p:cNvSpPr/>
          <p:nvPr/>
        </p:nvSpPr>
        <p:spPr>
          <a:xfrm>
            <a:off x="677745" y="4657815"/>
            <a:ext cx="1750148" cy="93615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Manual expense tracking leads to inefficiencies, errors, and poor financial visibility.</a:t>
            </a:r>
            <a:endParaRPr lang="en-US" sz="1150" dirty="0"/>
          </a:p>
        </p:txBody>
      </p:sp>
      <p:sp>
        <p:nvSpPr>
          <p:cNvPr id="7" name="Shape 5"/>
          <p:cNvSpPr/>
          <p:nvPr/>
        </p:nvSpPr>
        <p:spPr>
          <a:xfrm>
            <a:off x="2740026" y="4189122"/>
            <a:ext cx="2081974" cy="1570759"/>
          </a:xfrm>
          <a:prstGeom prst="roundRect">
            <a:avLst>
              <a:gd name="adj" fmla="val 3911"/>
            </a:avLst>
          </a:prstGeom>
          <a:solidFill>
            <a:srgbClr val="FFFFFF">
              <a:alpha val="95000"/>
            </a:srgbClr>
          </a:solidFill>
          <a:ln w="19693">
            <a:solidFill>
              <a:srgbClr val="D6BADD"/>
            </a:solidFill>
            <a:prstDash val="solid"/>
          </a:ln>
        </p:spPr>
      </p:sp>
      <p:sp>
        <p:nvSpPr>
          <p:cNvPr id="8" name="Text 6"/>
          <p:cNvSpPr/>
          <p:nvPr/>
        </p:nvSpPr>
        <p:spPr>
          <a:xfrm>
            <a:off x="2905939" y="4355035"/>
            <a:ext cx="1750148"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ExBot Solution</a:t>
            </a:r>
            <a:endParaRPr lang="en-US" sz="1350" dirty="0"/>
          </a:p>
        </p:txBody>
      </p:sp>
      <p:sp>
        <p:nvSpPr>
          <p:cNvPr id="9" name="Text 7"/>
          <p:cNvSpPr/>
          <p:nvPr/>
        </p:nvSpPr>
        <p:spPr>
          <a:xfrm>
            <a:off x="2905939" y="4657815"/>
            <a:ext cx="1750148" cy="93615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A secure, intuitive web platform for streamlined expense logging and categorization.</a:t>
            </a:r>
            <a:endParaRPr lang="en-US" sz="1150" dirty="0"/>
          </a:p>
        </p:txBody>
      </p:sp>
      <p:sp>
        <p:nvSpPr>
          <p:cNvPr id="10" name="Shape 8"/>
          <p:cNvSpPr/>
          <p:nvPr/>
        </p:nvSpPr>
        <p:spPr>
          <a:xfrm>
            <a:off x="4968220" y="4189122"/>
            <a:ext cx="2081974" cy="1570759"/>
          </a:xfrm>
          <a:prstGeom prst="roundRect">
            <a:avLst>
              <a:gd name="adj" fmla="val 3911"/>
            </a:avLst>
          </a:prstGeom>
          <a:solidFill>
            <a:srgbClr val="FFFFFF">
              <a:alpha val="95000"/>
            </a:srgbClr>
          </a:solidFill>
          <a:ln w="19693">
            <a:solidFill>
              <a:srgbClr val="D6BADD"/>
            </a:solidFill>
            <a:prstDash val="solid"/>
          </a:ln>
        </p:spPr>
      </p:sp>
      <p:sp>
        <p:nvSpPr>
          <p:cNvPr id="11" name="Text 9"/>
          <p:cNvSpPr/>
          <p:nvPr/>
        </p:nvSpPr>
        <p:spPr>
          <a:xfrm>
            <a:off x="5134133" y="4355035"/>
            <a:ext cx="1750148"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Key Benefits</a:t>
            </a:r>
            <a:endParaRPr lang="en-US" sz="1350" dirty="0"/>
          </a:p>
        </p:txBody>
      </p:sp>
      <p:sp>
        <p:nvSpPr>
          <p:cNvPr id="12" name="Text 10"/>
          <p:cNvSpPr/>
          <p:nvPr/>
        </p:nvSpPr>
        <p:spPr>
          <a:xfrm>
            <a:off x="5134133" y="4657815"/>
            <a:ext cx="1750148" cy="93615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Enables real-time insights, informed financial decisions, and improved financial health.</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11832" y="402167"/>
            <a:ext cx="6538363" cy="430168"/>
          </a:xfrm>
          <a:prstGeom prst="rect">
            <a:avLst/>
          </a:prstGeom>
          <a:noFill/>
          <a:ln/>
        </p:spPr>
        <p:txBody>
          <a:bodyPr wrap="none" lIns="0" tIns="0" rIns="0" bIns="0" rtlCol="0" anchor="t"/>
          <a:lstStyle/>
          <a:p>
            <a:pPr algn="l" indent="0" marL="0">
              <a:lnSpc>
                <a:spcPct val="104000"/>
              </a:lnSpc>
              <a:buNone/>
            </a:pPr>
            <a:r>
              <a:rPr lang="en-US" sz="2700" dirty="0">
                <a:solidFill>
                  <a:srgbClr val="000000"/>
                </a:solidFill>
                <a:latin typeface="Source Serif 4 SemiBold" pitchFamily="34" charset="0"/>
                <a:ea typeface="Source Serif 4 SemiBold" pitchFamily="34" charset="-122"/>
                <a:cs typeface="Source Serif 4 SemiBold" pitchFamily="34" charset="-120"/>
              </a:rPr>
              <a:t>Executive Summary</a:t>
            </a:r>
            <a:endParaRPr lang="en-US" sz="2700" dirty="0"/>
          </a:p>
        </p:txBody>
      </p:sp>
      <p:sp>
        <p:nvSpPr>
          <p:cNvPr id="3" name="Text 1"/>
          <p:cNvSpPr/>
          <p:nvPr/>
        </p:nvSpPr>
        <p:spPr>
          <a:xfrm>
            <a:off x="511832" y="1124837"/>
            <a:ext cx="6538363" cy="1170192"/>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ExBot is a web application designed to modernize personal finance management for students and everyday users. It replaces notebooks and spreadsheets with a secure, mobile-friendly system that logs income and expenses, auto-calculates totals and balances, groups transactions into categories, and produces clear reports. An optional AI-driven chatbot simplifies entry by interpreting natural-language statements like "Today I spent 300rs on food" and creating the corresponding expense record.</a:t>
            </a:r>
            <a:endParaRPr lang="en-US" sz="1150" dirty="0"/>
          </a:p>
        </p:txBody>
      </p:sp>
      <p:pic>
        <p:nvPicPr>
          <p:cNvPr id="4" name="Image 0" descr="preencoded.png">    </p:cNvPr>
          <p:cNvPicPr>
            <a:picLocks noChangeAspect="1"/>
          </p:cNvPicPr>
          <p:nvPr/>
        </p:nvPicPr>
        <p:blipFill>
          <a:blip r:embed="rId1"/>
          <a:stretch>
            <a:fillRect/>
          </a:stretch>
        </p:blipFill>
        <p:spPr>
          <a:xfrm>
            <a:off x="511832" y="2459527"/>
            <a:ext cx="596696" cy="745871"/>
          </a:xfrm>
          <a:prstGeom prst="rect">
            <a:avLst/>
          </a:prstGeom>
        </p:spPr>
      </p:pic>
      <p:sp>
        <p:nvSpPr>
          <p:cNvPr id="5" name="Text 2"/>
          <p:cNvSpPr/>
          <p:nvPr/>
        </p:nvSpPr>
        <p:spPr>
          <a:xfrm>
            <a:off x="1291303" y="2459527"/>
            <a:ext cx="1278133"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Secure Access</a:t>
            </a:r>
            <a:endParaRPr lang="en-US" sz="1350" dirty="0"/>
          </a:p>
        </p:txBody>
      </p:sp>
      <p:sp>
        <p:nvSpPr>
          <p:cNvPr id="6" name="Text 3"/>
          <p:cNvSpPr/>
          <p:nvPr/>
        </p:nvSpPr>
        <p:spPr>
          <a:xfrm>
            <a:off x="1291303" y="2762306"/>
            <a:ext cx="1278133" cy="1170192"/>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Protected user authentication with role-based actions for privacy and data integrity.</a:t>
            </a:r>
            <a:endParaRPr lang="en-US" sz="1150" dirty="0"/>
          </a:p>
        </p:txBody>
      </p:sp>
      <p:pic>
        <p:nvPicPr>
          <p:cNvPr id="7" name="Image 1" descr="preencoded.png">    </p:cNvPr>
          <p:cNvPicPr>
            <a:picLocks noChangeAspect="1"/>
          </p:cNvPicPr>
          <p:nvPr/>
        </p:nvPicPr>
        <p:blipFill>
          <a:blip r:embed="rId2"/>
          <a:stretch>
            <a:fillRect/>
          </a:stretch>
        </p:blipFill>
        <p:spPr>
          <a:xfrm>
            <a:off x="2752211" y="2459527"/>
            <a:ext cx="596696" cy="745871"/>
          </a:xfrm>
          <a:prstGeom prst="rect">
            <a:avLst/>
          </a:prstGeom>
        </p:spPr>
      </p:pic>
      <p:sp>
        <p:nvSpPr>
          <p:cNvPr id="8" name="Text 4"/>
          <p:cNvSpPr/>
          <p:nvPr/>
        </p:nvSpPr>
        <p:spPr>
          <a:xfrm>
            <a:off x="3531682" y="2459527"/>
            <a:ext cx="1278133" cy="430168"/>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Intuitive Dashboard</a:t>
            </a:r>
            <a:endParaRPr lang="en-US" sz="1350" dirty="0"/>
          </a:p>
        </p:txBody>
      </p:sp>
      <p:sp>
        <p:nvSpPr>
          <p:cNvPr id="9" name="Text 5"/>
          <p:cNvSpPr/>
          <p:nvPr/>
        </p:nvSpPr>
        <p:spPr>
          <a:xfrm>
            <a:off x="3531682" y="2977390"/>
            <a:ext cx="1278133" cy="1170192"/>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Snapshot of balance, recent transactions, and category breakdowns for quick insight.</a:t>
            </a:r>
            <a:endParaRPr lang="en-US" sz="1150" dirty="0"/>
          </a:p>
        </p:txBody>
      </p:sp>
      <p:pic>
        <p:nvPicPr>
          <p:cNvPr id="10" name="Image 2" descr="preencoded.png">    </p:cNvPr>
          <p:cNvPicPr>
            <a:picLocks noChangeAspect="1"/>
          </p:cNvPicPr>
          <p:nvPr/>
        </p:nvPicPr>
        <p:blipFill>
          <a:blip r:embed="rId3"/>
          <a:stretch>
            <a:fillRect/>
          </a:stretch>
        </p:blipFill>
        <p:spPr>
          <a:xfrm>
            <a:off x="4992590" y="2459527"/>
            <a:ext cx="596696" cy="745871"/>
          </a:xfrm>
          <a:prstGeom prst="rect">
            <a:avLst/>
          </a:prstGeom>
        </p:spPr>
      </p:pic>
      <p:sp>
        <p:nvSpPr>
          <p:cNvPr id="11" name="Text 6"/>
          <p:cNvSpPr/>
          <p:nvPr/>
        </p:nvSpPr>
        <p:spPr>
          <a:xfrm>
            <a:off x="5772062" y="2459527"/>
            <a:ext cx="1278133"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AI Chatbot</a:t>
            </a:r>
            <a:endParaRPr lang="en-US" sz="1350" dirty="0"/>
          </a:p>
        </p:txBody>
      </p:sp>
      <p:sp>
        <p:nvSpPr>
          <p:cNvPr id="12" name="Text 7"/>
          <p:cNvSpPr/>
          <p:nvPr/>
        </p:nvSpPr>
        <p:spPr>
          <a:xfrm>
            <a:off x="5772062" y="2762306"/>
            <a:ext cx="1278133" cy="93615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Natural-language expense entry that speeds up logging and reduces friction.</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11832" y="402167"/>
            <a:ext cx="6538363" cy="430168"/>
          </a:xfrm>
          <a:prstGeom prst="rect">
            <a:avLst/>
          </a:prstGeom>
          <a:noFill/>
          <a:ln/>
        </p:spPr>
        <p:txBody>
          <a:bodyPr wrap="none" lIns="0" tIns="0" rIns="0" bIns="0" rtlCol="0" anchor="t"/>
          <a:lstStyle/>
          <a:p>
            <a:pPr algn="l" indent="0" marL="0">
              <a:lnSpc>
                <a:spcPct val="104000"/>
              </a:lnSpc>
              <a:buNone/>
            </a:pPr>
            <a:r>
              <a:rPr lang="en-US" sz="2700" dirty="0">
                <a:solidFill>
                  <a:srgbClr val="000000"/>
                </a:solidFill>
                <a:latin typeface="Source Serif 4 SemiBold" pitchFamily="34" charset="0"/>
                <a:ea typeface="Source Serif 4 SemiBold" pitchFamily="34" charset="-122"/>
                <a:cs typeface="Source Serif 4 SemiBold" pitchFamily="34" charset="-120"/>
              </a:rPr>
              <a:t>Problem Definition &amp; SDLC</a:t>
            </a:r>
            <a:endParaRPr lang="en-US" sz="2700" dirty="0"/>
          </a:p>
        </p:txBody>
      </p:sp>
      <p:sp>
        <p:nvSpPr>
          <p:cNvPr id="3" name="Text 1"/>
          <p:cNvSpPr/>
          <p:nvPr/>
        </p:nvSpPr>
        <p:spPr>
          <a:xfrm>
            <a:off x="511832" y="1124837"/>
            <a:ext cx="6538363" cy="468077"/>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Problem: Manual expense tracking (notebooks/Excel) is time-consuming, error-prone, insecure, and not optimized for mobile daily use. Users struggle to maintain accurate records or generate insights quickly.</a:t>
            </a:r>
            <a:endParaRPr lang="en-US" sz="11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1832" y="1757412"/>
            <a:ext cx="2081974" cy="2204872"/>
          </a:xfrm>
          <a:prstGeom prst="rect">
            <a:avLst/>
          </a:prstGeom>
        </p:spPr>
      </p:pic>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65062" y="1888985"/>
            <a:ext cx="175452" cy="175452"/>
          </a:xfrm>
          <a:prstGeom prst="rect">
            <a:avLst/>
          </a:prstGeom>
        </p:spPr>
      </p:pic>
      <p:sp>
        <p:nvSpPr>
          <p:cNvPr id="6" name="Text 2"/>
          <p:cNvSpPr/>
          <p:nvPr/>
        </p:nvSpPr>
        <p:spPr>
          <a:xfrm>
            <a:off x="677745" y="2342354"/>
            <a:ext cx="1750148" cy="430168"/>
          </a:xfrm>
          <a:prstGeom prst="rect">
            <a:avLst/>
          </a:prstGeom>
          <a:noFill/>
          <a:ln/>
        </p:spPr>
        <p:txBody>
          <a:bodyPr wrap="square" lIns="0" tIns="0" rIns="0" bIns="0" rtlCol="0" anchor="t">
            <a:normAutofit/>
          </a:bodyPr>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Requirement Analysis</a:t>
            </a:r>
            <a:endParaRPr lang="en-US" sz="1350" dirty="0"/>
          </a:p>
        </p:txBody>
      </p:sp>
      <p:sp>
        <p:nvSpPr>
          <p:cNvPr id="7" name="Text 3"/>
          <p:cNvSpPr/>
          <p:nvPr/>
        </p:nvSpPr>
        <p:spPr>
          <a:xfrm>
            <a:off x="677745" y="2860217"/>
            <a:ext cx="1750148" cy="93615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Gather user needs: ease of entry, categorization, reporting, security, and mobile access.</a:t>
            </a:r>
            <a:endParaRPr lang="en-US" sz="1150" dirty="0"/>
          </a:p>
        </p:txBody>
      </p:sp>
      <p:pic>
        <p:nvPicPr>
          <p:cNvPr id="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40026" y="1757412"/>
            <a:ext cx="2081974" cy="2204872"/>
          </a:xfrm>
          <a:prstGeom prst="rect">
            <a:avLst/>
          </a:prstGeom>
        </p:spPr>
      </p:pic>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693257" y="1888985"/>
            <a:ext cx="175452" cy="175452"/>
          </a:xfrm>
          <a:prstGeom prst="rect">
            <a:avLst/>
          </a:prstGeom>
        </p:spPr>
      </p:pic>
      <p:sp>
        <p:nvSpPr>
          <p:cNvPr id="10" name="Text 4"/>
          <p:cNvSpPr/>
          <p:nvPr/>
        </p:nvSpPr>
        <p:spPr>
          <a:xfrm>
            <a:off x="2905939" y="2342354"/>
            <a:ext cx="1750148"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System Design</a:t>
            </a:r>
            <a:endParaRPr lang="en-US" sz="1350" dirty="0"/>
          </a:p>
        </p:txBody>
      </p:sp>
      <p:sp>
        <p:nvSpPr>
          <p:cNvPr id="11" name="Text 5"/>
          <p:cNvSpPr/>
          <p:nvPr/>
        </p:nvSpPr>
        <p:spPr>
          <a:xfrm>
            <a:off x="2905939" y="2645133"/>
            <a:ext cx="1750148" cy="93615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Design data models, UI flows, and API endpoints to support real-time logging and reporting.</a:t>
            </a:r>
            <a:endParaRPr lang="en-US" sz="1150" dirty="0"/>
          </a:p>
        </p:txBody>
      </p:sp>
      <p:pic>
        <p:nvPicPr>
          <p:cNvPr id="12"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968220" y="1757412"/>
            <a:ext cx="2081974" cy="2204872"/>
          </a:xfrm>
          <a:prstGeom prst="rect">
            <a:avLst/>
          </a:prstGeom>
        </p:spPr>
      </p:pic>
      <p:pic>
        <p:nvPicPr>
          <p:cNvPr id="1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921451" y="1888985"/>
            <a:ext cx="175452" cy="175452"/>
          </a:xfrm>
          <a:prstGeom prst="rect">
            <a:avLst/>
          </a:prstGeom>
        </p:spPr>
      </p:pic>
      <p:sp>
        <p:nvSpPr>
          <p:cNvPr id="14" name="Text 6"/>
          <p:cNvSpPr/>
          <p:nvPr/>
        </p:nvSpPr>
        <p:spPr>
          <a:xfrm>
            <a:off x="5134133" y="2342354"/>
            <a:ext cx="1750148"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Implementation</a:t>
            </a:r>
            <a:endParaRPr lang="en-US" sz="1350" dirty="0"/>
          </a:p>
        </p:txBody>
      </p:sp>
      <p:sp>
        <p:nvSpPr>
          <p:cNvPr id="15" name="Text 7"/>
          <p:cNvSpPr/>
          <p:nvPr/>
        </p:nvSpPr>
        <p:spPr>
          <a:xfrm>
            <a:off x="5134133" y="2645133"/>
            <a:ext cx="1750148" cy="93615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Frontend (HTML/CSS/JS) + Backend (Flask) + MongoDB for schema-flexible transaction storage.</a:t>
            </a:r>
            <a:endParaRPr lang="en-US" sz="1150" dirty="0"/>
          </a:p>
        </p:txBody>
      </p:sp>
      <p:pic>
        <p:nvPicPr>
          <p:cNvPr id="1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11832" y="4108504"/>
            <a:ext cx="3196041" cy="1521712"/>
          </a:xfrm>
          <a:prstGeom prst="rect">
            <a:avLst/>
          </a:prstGeom>
        </p:spPr>
      </p:pic>
      <p:pic>
        <p:nvPicPr>
          <p:cNvPr id="17"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022126" y="4240078"/>
            <a:ext cx="175452" cy="175452"/>
          </a:xfrm>
          <a:prstGeom prst="rect">
            <a:avLst/>
          </a:prstGeom>
        </p:spPr>
      </p:pic>
      <p:sp>
        <p:nvSpPr>
          <p:cNvPr id="18" name="Text 8"/>
          <p:cNvSpPr/>
          <p:nvPr/>
        </p:nvSpPr>
        <p:spPr>
          <a:xfrm>
            <a:off x="677745" y="4693447"/>
            <a:ext cx="2864215"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Testing</a:t>
            </a:r>
            <a:endParaRPr lang="en-US" sz="1350" dirty="0"/>
          </a:p>
        </p:txBody>
      </p:sp>
      <p:sp>
        <p:nvSpPr>
          <p:cNvPr id="19" name="Text 9"/>
          <p:cNvSpPr/>
          <p:nvPr/>
        </p:nvSpPr>
        <p:spPr>
          <a:xfrm>
            <a:off x="677745" y="4996226"/>
            <a:ext cx="2864215" cy="468077"/>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Unit, integration, and user acceptance testing to ensure reliability and security.</a:t>
            </a:r>
            <a:endParaRPr lang="en-US" sz="1150" dirty="0"/>
          </a:p>
        </p:txBody>
      </p:sp>
      <p:pic>
        <p:nvPicPr>
          <p:cNvPr id="20"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854092" y="4108504"/>
            <a:ext cx="3196102" cy="1521712"/>
          </a:xfrm>
          <a:prstGeom prst="rect">
            <a:avLst/>
          </a:prstGeom>
        </p:spPr>
      </p:pic>
      <p:pic>
        <p:nvPicPr>
          <p:cNvPr id="21"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5364387" y="4240078"/>
            <a:ext cx="175452" cy="175452"/>
          </a:xfrm>
          <a:prstGeom prst="rect">
            <a:avLst/>
          </a:prstGeom>
        </p:spPr>
      </p:pic>
      <p:sp>
        <p:nvSpPr>
          <p:cNvPr id="22" name="Text 10"/>
          <p:cNvSpPr/>
          <p:nvPr/>
        </p:nvSpPr>
        <p:spPr>
          <a:xfrm>
            <a:off x="4020005" y="4693447"/>
            <a:ext cx="2864276"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Deployment &amp; Maintenance</a:t>
            </a:r>
            <a:endParaRPr lang="en-US" sz="1350" dirty="0"/>
          </a:p>
        </p:txBody>
      </p:sp>
      <p:sp>
        <p:nvSpPr>
          <p:cNvPr id="23" name="Text 11"/>
          <p:cNvSpPr/>
          <p:nvPr/>
        </p:nvSpPr>
        <p:spPr>
          <a:xfrm>
            <a:off x="4020005" y="4996226"/>
            <a:ext cx="2864276" cy="468077"/>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Deploy to a cloud host or college server; provide updates, backups, and user support.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11832" y="402167"/>
            <a:ext cx="6538363" cy="430168"/>
          </a:xfrm>
          <a:prstGeom prst="rect">
            <a:avLst/>
          </a:prstGeom>
          <a:noFill/>
          <a:ln/>
        </p:spPr>
        <p:txBody>
          <a:bodyPr wrap="none" lIns="0" tIns="0" rIns="0" bIns="0" rtlCol="0" anchor="t"/>
          <a:lstStyle/>
          <a:p>
            <a:pPr algn="l" indent="0" marL="0">
              <a:lnSpc>
                <a:spcPct val="104000"/>
              </a:lnSpc>
              <a:buNone/>
            </a:pPr>
            <a:r>
              <a:rPr lang="en-US" sz="2700" dirty="0">
                <a:solidFill>
                  <a:srgbClr val="000000"/>
                </a:solidFill>
                <a:latin typeface="Source Serif 4 SemiBold" pitchFamily="34" charset="0"/>
                <a:ea typeface="Source Serif 4 SemiBold" pitchFamily="34" charset="-122"/>
                <a:cs typeface="Source Serif 4 SemiBold" pitchFamily="34" charset="-120"/>
              </a:rPr>
              <a:t>Project Objectives</a:t>
            </a:r>
            <a:endParaRPr lang="en-US" sz="2700" dirty="0"/>
          </a:p>
        </p:txBody>
      </p:sp>
      <p:sp>
        <p:nvSpPr>
          <p:cNvPr id="3" name="Shape 1"/>
          <p:cNvSpPr/>
          <p:nvPr/>
        </p:nvSpPr>
        <p:spPr>
          <a:xfrm>
            <a:off x="511832" y="1124837"/>
            <a:ext cx="329057" cy="329057"/>
          </a:xfrm>
          <a:prstGeom prst="roundRect">
            <a:avLst>
              <a:gd name="adj" fmla="val 18667"/>
            </a:avLst>
          </a:prstGeom>
          <a:solidFill>
            <a:srgbClr val="F0D4F7"/>
          </a:solidFill>
          <a:ln w="7877">
            <a:solidFill>
              <a:srgbClr val="D6BADD"/>
            </a:solidFill>
            <a:prstDash val="solid"/>
          </a:ln>
        </p:spPr>
      </p:sp>
      <p:sp>
        <p:nvSpPr>
          <p:cNvPr id="4" name="Text 2"/>
          <p:cNvSpPr/>
          <p:nvPr/>
        </p:nvSpPr>
        <p:spPr>
          <a:xfrm>
            <a:off x="987108" y="1175054"/>
            <a:ext cx="2702486"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Usability</a:t>
            </a:r>
            <a:endParaRPr lang="en-US" sz="1350" dirty="0"/>
          </a:p>
        </p:txBody>
      </p:sp>
      <p:sp>
        <p:nvSpPr>
          <p:cNvPr id="5" name="Text 3"/>
          <p:cNvSpPr/>
          <p:nvPr/>
        </p:nvSpPr>
        <p:spPr>
          <a:xfrm>
            <a:off x="987108" y="1477833"/>
            <a:ext cx="2702486" cy="468077"/>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Provide an easy-to-use interface for quick daily logging and review of finances.</a:t>
            </a:r>
            <a:endParaRPr lang="en-US" sz="1150" dirty="0"/>
          </a:p>
        </p:txBody>
      </p:sp>
      <p:sp>
        <p:nvSpPr>
          <p:cNvPr id="6" name="Shape 4"/>
          <p:cNvSpPr/>
          <p:nvPr/>
        </p:nvSpPr>
        <p:spPr>
          <a:xfrm>
            <a:off x="3872370" y="1124837"/>
            <a:ext cx="329057" cy="329057"/>
          </a:xfrm>
          <a:prstGeom prst="roundRect">
            <a:avLst>
              <a:gd name="adj" fmla="val 18667"/>
            </a:avLst>
          </a:prstGeom>
          <a:solidFill>
            <a:srgbClr val="F0D4F7"/>
          </a:solidFill>
          <a:ln w="7877">
            <a:solidFill>
              <a:srgbClr val="D6BADD"/>
            </a:solidFill>
            <a:prstDash val="solid"/>
          </a:ln>
        </p:spPr>
      </p:sp>
      <p:sp>
        <p:nvSpPr>
          <p:cNvPr id="7" name="Text 5"/>
          <p:cNvSpPr/>
          <p:nvPr/>
        </p:nvSpPr>
        <p:spPr>
          <a:xfrm>
            <a:off x="4347647" y="1175054"/>
            <a:ext cx="2702548"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Automation</a:t>
            </a:r>
            <a:endParaRPr lang="en-US" sz="1350" dirty="0"/>
          </a:p>
        </p:txBody>
      </p:sp>
      <p:sp>
        <p:nvSpPr>
          <p:cNvPr id="8" name="Text 6"/>
          <p:cNvSpPr/>
          <p:nvPr/>
        </p:nvSpPr>
        <p:spPr>
          <a:xfrm>
            <a:off x="4347647" y="1477833"/>
            <a:ext cx="2702548" cy="702115"/>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Automate totals, balances and category summaries to reduce manual calculation and errors.</a:t>
            </a:r>
            <a:endParaRPr lang="en-US" sz="1150" dirty="0"/>
          </a:p>
        </p:txBody>
      </p:sp>
      <p:sp>
        <p:nvSpPr>
          <p:cNvPr id="9" name="Shape 7"/>
          <p:cNvSpPr/>
          <p:nvPr/>
        </p:nvSpPr>
        <p:spPr>
          <a:xfrm>
            <a:off x="511832" y="2472451"/>
            <a:ext cx="329057" cy="329057"/>
          </a:xfrm>
          <a:prstGeom prst="roundRect">
            <a:avLst>
              <a:gd name="adj" fmla="val 18667"/>
            </a:avLst>
          </a:prstGeom>
          <a:solidFill>
            <a:srgbClr val="F0D4F7"/>
          </a:solidFill>
          <a:ln w="7877">
            <a:solidFill>
              <a:srgbClr val="D6BADD"/>
            </a:solidFill>
            <a:prstDash val="solid"/>
          </a:ln>
        </p:spPr>
      </p:sp>
      <p:sp>
        <p:nvSpPr>
          <p:cNvPr id="10" name="Text 8"/>
          <p:cNvSpPr/>
          <p:nvPr/>
        </p:nvSpPr>
        <p:spPr>
          <a:xfrm>
            <a:off x="987108" y="2522668"/>
            <a:ext cx="2702486"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AI Assistance</a:t>
            </a:r>
            <a:endParaRPr lang="en-US" sz="1350" dirty="0"/>
          </a:p>
        </p:txBody>
      </p:sp>
      <p:sp>
        <p:nvSpPr>
          <p:cNvPr id="11" name="Text 9"/>
          <p:cNvSpPr/>
          <p:nvPr/>
        </p:nvSpPr>
        <p:spPr>
          <a:xfrm>
            <a:off x="987108" y="2825447"/>
            <a:ext cx="2702486" cy="468077"/>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Allow conversational expense entry and smart suggestions using an AI agent.</a:t>
            </a:r>
            <a:endParaRPr lang="en-US" sz="1150" dirty="0"/>
          </a:p>
        </p:txBody>
      </p:sp>
      <p:sp>
        <p:nvSpPr>
          <p:cNvPr id="12" name="Shape 10"/>
          <p:cNvSpPr/>
          <p:nvPr/>
        </p:nvSpPr>
        <p:spPr>
          <a:xfrm>
            <a:off x="3872370" y="2472451"/>
            <a:ext cx="329057" cy="329057"/>
          </a:xfrm>
          <a:prstGeom prst="roundRect">
            <a:avLst>
              <a:gd name="adj" fmla="val 18667"/>
            </a:avLst>
          </a:prstGeom>
          <a:solidFill>
            <a:srgbClr val="F0D4F7"/>
          </a:solidFill>
          <a:ln w="7877">
            <a:solidFill>
              <a:srgbClr val="D6BADD"/>
            </a:solidFill>
            <a:prstDash val="solid"/>
          </a:ln>
        </p:spPr>
      </p:sp>
      <p:sp>
        <p:nvSpPr>
          <p:cNvPr id="13" name="Text 11"/>
          <p:cNvSpPr/>
          <p:nvPr/>
        </p:nvSpPr>
        <p:spPr>
          <a:xfrm>
            <a:off x="4347647" y="2522668"/>
            <a:ext cx="2702548"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Reports &amp; Export</a:t>
            </a:r>
            <a:endParaRPr lang="en-US" sz="1350" dirty="0"/>
          </a:p>
        </p:txBody>
      </p:sp>
      <p:sp>
        <p:nvSpPr>
          <p:cNvPr id="14" name="Text 12"/>
          <p:cNvSpPr/>
          <p:nvPr/>
        </p:nvSpPr>
        <p:spPr>
          <a:xfrm>
            <a:off x="4347647" y="2825447"/>
            <a:ext cx="2702548" cy="702115"/>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Generate downloadable reports (PDF, Excel) and visual charts for analysis and budgeting.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11832" y="402167"/>
            <a:ext cx="6538363" cy="860336"/>
          </a:xfrm>
          <a:prstGeom prst="rect">
            <a:avLst/>
          </a:prstGeom>
          <a:noFill/>
          <a:ln/>
        </p:spPr>
        <p:txBody>
          <a:bodyPr wrap="square" lIns="0" tIns="0" rIns="0" bIns="0" rtlCol="0" anchor="t">
            <a:normAutofit/>
          </a:bodyPr>
          <a:lstStyle/>
          <a:p>
            <a:pPr algn="l" indent="0" marL="0">
              <a:lnSpc>
                <a:spcPct val="104000"/>
              </a:lnSpc>
              <a:buNone/>
            </a:pPr>
            <a:r>
              <a:rPr lang="en-US" sz="2700" dirty="0">
                <a:solidFill>
                  <a:srgbClr val="000000"/>
                </a:solidFill>
                <a:latin typeface="Source Serif 4 SemiBold" pitchFamily="34" charset="0"/>
                <a:ea typeface="Source Serif 4 SemiBold" pitchFamily="34" charset="-122"/>
                <a:cs typeface="Source Serif 4 SemiBold" pitchFamily="34" charset="-120"/>
              </a:rPr>
              <a:t>Requirement Specification — Features &amp; Navigation</a:t>
            </a:r>
            <a:endParaRPr lang="en-US" sz="2700" dirty="0"/>
          </a:p>
        </p:txBody>
      </p:sp>
      <p:sp>
        <p:nvSpPr>
          <p:cNvPr id="3" name="Text 1"/>
          <p:cNvSpPr/>
          <p:nvPr/>
        </p:nvSpPr>
        <p:spPr>
          <a:xfrm>
            <a:off x="511832" y="1555005"/>
            <a:ext cx="6538363" cy="93615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This section summarizes functional requirements, navigation structure, and premium offerings. The system supports both manual and AI-assisted logging, secure user management, category controls, search &amp; filter, and data export. Monetization is subscription-based with premium features including AI agent, budget and bill reminders, and advanced exports.</a:t>
            </a:r>
            <a:endParaRPr lang="en-US" sz="1150" dirty="0"/>
          </a:p>
        </p:txBody>
      </p:sp>
      <p:pic>
        <p:nvPicPr>
          <p:cNvPr id="4" name="Image 0" descr="preencoded.png">    </p:cNvPr>
          <p:cNvPicPr>
            <a:picLocks noChangeAspect="1"/>
          </p:cNvPicPr>
          <p:nvPr/>
        </p:nvPicPr>
        <p:blipFill>
          <a:blip r:embed="rId1"/>
          <a:stretch>
            <a:fillRect/>
          </a:stretch>
        </p:blipFill>
        <p:spPr>
          <a:xfrm>
            <a:off x="511832" y="2655657"/>
            <a:ext cx="905321" cy="559526"/>
          </a:xfrm>
          <a:prstGeom prst="rect">
            <a:avLst/>
          </a:prstGeom>
        </p:spPr>
      </p:pic>
      <p:sp>
        <p:nvSpPr>
          <p:cNvPr id="5" name="Text 2"/>
          <p:cNvSpPr/>
          <p:nvPr/>
        </p:nvSpPr>
        <p:spPr>
          <a:xfrm>
            <a:off x="511832" y="3397958"/>
            <a:ext cx="2057604"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Navigation</a:t>
            </a:r>
            <a:endParaRPr lang="en-US" sz="1350" dirty="0"/>
          </a:p>
        </p:txBody>
      </p:sp>
      <p:sp>
        <p:nvSpPr>
          <p:cNvPr id="6" name="Text 3"/>
          <p:cNvSpPr/>
          <p:nvPr/>
        </p:nvSpPr>
        <p:spPr>
          <a:xfrm>
            <a:off x="511832" y="3700737"/>
            <a:ext cx="2057604" cy="1608791"/>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Home</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Login / Signup</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Dashboard</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Add Income / Expense</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Reports / Categories / Profile / Logout</a:t>
            </a:r>
            <a:endParaRPr lang="en-US" sz="1150" dirty="0"/>
          </a:p>
        </p:txBody>
      </p:sp>
      <p:pic>
        <p:nvPicPr>
          <p:cNvPr id="7" name="Image 1" descr="preencoded.png">    </p:cNvPr>
          <p:cNvPicPr>
            <a:picLocks noChangeAspect="1"/>
          </p:cNvPicPr>
          <p:nvPr/>
        </p:nvPicPr>
        <p:blipFill>
          <a:blip r:embed="rId2"/>
          <a:stretch>
            <a:fillRect/>
          </a:stretch>
        </p:blipFill>
        <p:spPr>
          <a:xfrm>
            <a:off x="2752211" y="2655657"/>
            <a:ext cx="905321" cy="559526"/>
          </a:xfrm>
          <a:prstGeom prst="rect">
            <a:avLst/>
          </a:prstGeom>
        </p:spPr>
      </p:pic>
      <p:sp>
        <p:nvSpPr>
          <p:cNvPr id="8" name="Text 4"/>
          <p:cNvSpPr/>
          <p:nvPr/>
        </p:nvSpPr>
        <p:spPr>
          <a:xfrm>
            <a:off x="2752211" y="3397958"/>
            <a:ext cx="2057604"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Core Features</a:t>
            </a:r>
            <a:endParaRPr lang="en-US" sz="1350" dirty="0"/>
          </a:p>
        </p:txBody>
      </p:sp>
      <p:sp>
        <p:nvSpPr>
          <p:cNvPr id="9" name="Text 5"/>
          <p:cNvSpPr/>
          <p:nvPr/>
        </p:nvSpPr>
        <p:spPr>
          <a:xfrm>
            <a:off x="2752211" y="3700737"/>
            <a:ext cx="2057604" cy="1323613"/>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Secure login &amp; registration</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Add, edit, delete transactions</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Search, filter &amp; category management</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Auto totals, balance &amp; export</a:t>
            </a:r>
            <a:endParaRPr lang="en-US" sz="1150" dirty="0"/>
          </a:p>
        </p:txBody>
      </p:sp>
      <p:pic>
        <p:nvPicPr>
          <p:cNvPr id="10" name="Image 2" descr="preencoded.png">    </p:cNvPr>
          <p:cNvPicPr>
            <a:picLocks noChangeAspect="1"/>
          </p:cNvPicPr>
          <p:nvPr/>
        </p:nvPicPr>
        <p:blipFill>
          <a:blip r:embed="rId3"/>
          <a:stretch>
            <a:fillRect/>
          </a:stretch>
        </p:blipFill>
        <p:spPr>
          <a:xfrm>
            <a:off x="4992590" y="2655657"/>
            <a:ext cx="905321" cy="559526"/>
          </a:xfrm>
          <a:prstGeom prst="rect">
            <a:avLst/>
          </a:prstGeom>
        </p:spPr>
      </p:pic>
      <p:sp>
        <p:nvSpPr>
          <p:cNvPr id="11" name="Text 6"/>
          <p:cNvSpPr/>
          <p:nvPr/>
        </p:nvSpPr>
        <p:spPr>
          <a:xfrm>
            <a:off x="4992590" y="3397958"/>
            <a:ext cx="2057604"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Premium (Subscription)</a:t>
            </a:r>
            <a:endParaRPr lang="en-US" sz="1350" dirty="0"/>
          </a:p>
        </p:txBody>
      </p:sp>
      <p:sp>
        <p:nvSpPr>
          <p:cNvPr id="12" name="Text 7"/>
          <p:cNvSpPr/>
          <p:nvPr/>
        </p:nvSpPr>
        <p:spPr>
          <a:xfrm>
            <a:off x="4992590" y="3700737"/>
            <a:ext cx="2057604" cy="804396"/>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AI agent &amp; expense chatbot</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Budget &amp; bill reminders</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PDF &amp; Excel reports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11832" y="402167"/>
            <a:ext cx="6538363" cy="430168"/>
          </a:xfrm>
          <a:prstGeom prst="rect">
            <a:avLst/>
          </a:prstGeom>
          <a:noFill/>
          <a:ln/>
        </p:spPr>
        <p:txBody>
          <a:bodyPr wrap="none" lIns="0" tIns="0" rIns="0" bIns="0" rtlCol="0" anchor="t"/>
          <a:lstStyle/>
          <a:p>
            <a:pPr algn="l" indent="0" marL="0">
              <a:lnSpc>
                <a:spcPct val="104000"/>
              </a:lnSpc>
              <a:buNone/>
            </a:pPr>
            <a:r>
              <a:rPr lang="en-US" sz="2700" dirty="0">
                <a:solidFill>
                  <a:srgbClr val="000000"/>
                </a:solidFill>
                <a:latin typeface="Source Serif 4 SemiBold" pitchFamily="34" charset="0"/>
                <a:ea typeface="Source Serif 4 SemiBold" pitchFamily="34" charset="-122"/>
                <a:cs typeface="Source Serif 4 SemiBold" pitchFamily="34" charset="-120"/>
              </a:rPr>
              <a:t>Technology Stack &amp; Requirements</a:t>
            </a:r>
            <a:endParaRPr lang="en-US" sz="2700" dirty="0"/>
          </a:p>
        </p:txBody>
      </p:sp>
      <p:sp>
        <p:nvSpPr>
          <p:cNvPr id="3" name="Shape 1"/>
          <p:cNvSpPr/>
          <p:nvPr/>
        </p:nvSpPr>
        <p:spPr>
          <a:xfrm>
            <a:off x="406536" y="1051665"/>
            <a:ext cx="3301336" cy="1575252"/>
          </a:xfrm>
          <a:prstGeom prst="roundRect">
            <a:avLst>
              <a:gd name="adj" fmla="val 6685"/>
            </a:avLst>
          </a:prstGeom>
          <a:solidFill>
            <a:srgbClr val="BE49DF">
              <a:alpha val="95000"/>
            </a:srgbClr>
          </a:solidFill>
          <a:ln/>
        </p:spPr>
      </p:sp>
      <p:sp>
        <p:nvSpPr>
          <p:cNvPr id="4" name="Text 2"/>
          <p:cNvSpPr/>
          <p:nvPr/>
        </p:nvSpPr>
        <p:spPr>
          <a:xfrm>
            <a:off x="552756" y="1197886"/>
            <a:ext cx="3008896" cy="215084"/>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Source Serif 4 SemiBold" pitchFamily="34" charset="0"/>
                <a:ea typeface="Source Serif 4 SemiBold" pitchFamily="34" charset="-122"/>
                <a:cs typeface="Source Serif 4 SemiBold" pitchFamily="34" charset="-120"/>
              </a:rPr>
              <a:t>Software Stack</a:t>
            </a:r>
            <a:endParaRPr lang="en-US" sz="1350" dirty="0"/>
          </a:p>
        </p:txBody>
      </p:sp>
      <p:sp>
        <p:nvSpPr>
          <p:cNvPr id="5" name="Text 3"/>
          <p:cNvSpPr/>
          <p:nvPr/>
        </p:nvSpPr>
        <p:spPr>
          <a:xfrm>
            <a:off x="552756" y="1559190"/>
            <a:ext cx="3008896" cy="93615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00"/>
                </a:solidFill>
                <a:latin typeface="Source Sans 3" pitchFamily="34" charset="0"/>
                <a:ea typeface="Source Sans 3" pitchFamily="34" charset="-122"/>
                <a:cs typeface="Source Sans 3" pitchFamily="34" charset="-120"/>
              </a:rPr>
              <a:t>Frontend: HTML, CSS, JavaScript</a:t>
            </a:r>
            <a:endParaRPr lang="en-US" sz="1150" dirty="0"/>
          </a:p>
          <a:p>
            <a:pPr algn="l" indent="0" marL="0">
              <a:lnSpc>
                <a:spcPct val="133000"/>
              </a:lnSpc>
              <a:buNone/>
            </a:pPr>
            <a:r>
              <a:rPr lang="en-US" sz="1150" dirty="0">
                <a:solidFill>
                  <a:srgbClr val="000000"/>
                </a:solidFill>
                <a:latin typeface="Source Sans 3" pitchFamily="34" charset="0"/>
                <a:ea typeface="Source Sans 3" pitchFamily="34" charset="-122"/>
                <a:cs typeface="Source Sans 3" pitchFamily="34" charset="-120"/>
              </a:rPr>
              <a:t>Backend: Python (Flask)</a:t>
            </a:r>
            <a:endParaRPr lang="en-US" sz="1150" dirty="0"/>
          </a:p>
          <a:p>
            <a:pPr algn="l" indent="0" marL="0">
              <a:lnSpc>
                <a:spcPct val="133000"/>
              </a:lnSpc>
              <a:buNone/>
            </a:pPr>
            <a:r>
              <a:rPr lang="en-US" sz="1150" dirty="0">
                <a:solidFill>
                  <a:srgbClr val="000000"/>
                </a:solidFill>
                <a:latin typeface="Source Sans 3" pitchFamily="34" charset="0"/>
                <a:ea typeface="Source Sans 3" pitchFamily="34" charset="-122"/>
                <a:cs typeface="Source Sans 3" pitchFamily="34" charset="-120"/>
              </a:rPr>
              <a:t>Database: MongoDB</a:t>
            </a:r>
            <a:endParaRPr lang="en-US" sz="1150" dirty="0"/>
          </a:p>
          <a:p>
            <a:pPr algn="l" indent="0" marL="0">
              <a:lnSpc>
                <a:spcPct val="133000"/>
              </a:lnSpc>
              <a:buNone/>
            </a:pPr>
            <a:r>
              <a:rPr lang="en-US" sz="1150" dirty="0">
                <a:solidFill>
                  <a:srgbClr val="000000"/>
                </a:solidFill>
                <a:latin typeface="Source Sans 3" pitchFamily="34" charset="0"/>
                <a:ea typeface="Source Sans 3" pitchFamily="34" charset="-122"/>
                <a:cs typeface="Source Sans 3" pitchFamily="34" charset="-120"/>
              </a:rPr>
              <a:t>Tools: VS Code, Git, GitHub</a:t>
            </a:r>
            <a:endParaRPr lang="en-US" sz="1150" dirty="0"/>
          </a:p>
        </p:txBody>
      </p:sp>
      <p:sp>
        <p:nvSpPr>
          <p:cNvPr id="6" name="Text 4"/>
          <p:cNvSpPr/>
          <p:nvPr/>
        </p:nvSpPr>
        <p:spPr>
          <a:xfrm>
            <a:off x="3963327" y="1197886"/>
            <a:ext cx="3090745" cy="215084"/>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Source Serif 4 SemiBold" pitchFamily="34" charset="0"/>
                <a:ea typeface="Source Serif 4 SemiBold" pitchFamily="34" charset="-122"/>
                <a:cs typeface="Source Serif 4 SemiBold" pitchFamily="34" charset="-120"/>
              </a:rPr>
              <a:t>System Requirements</a:t>
            </a:r>
            <a:endParaRPr lang="en-US" sz="1350" dirty="0"/>
          </a:p>
        </p:txBody>
      </p:sp>
      <p:sp>
        <p:nvSpPr>
          <p:cNvPr id="7" name="Text 5"/>
          <p:cNvSpPr/>
          <p:nvPr/>
        </p:nvSpPr>
        <p:spPr>
          <a:xfrm>
            <a:off x="3963327" y="1559190"/>
            <a:ext cx="3090745" cy="936154"/>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Software: Windows 10/11, Python 3.x, Flask, MongoDB, Web Browser</a:t>
            </a:r>
            <a:endParaRPr lang="en-US" sz="1150" dirty="0"/>
          </a:p>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Hardware: Dual-core CPU, 4GB RAM, 500MB storage, Internet connection</a:t>
            </a:r>
            <a:endParaRPr lang="en-US" sz="1150" dirty="0"/>
          </a:p>
        </p:txBody>
      </p:sp>
      <p:sp>
        <p:nvSpPr>
          <p:cNvPr id="8" name="Shape 6"/>
          <p:cNvSpPr/>
          <p:nvPr/>
        </p:nvSpPr>
        <p:spPr>
          <a:xfrm>
            <a:off x="511832" y="2791415"/>
            <a:ext cx="6538363" cy="818981"/>
          </a:xfrm>
          <a:prstGeom prst="roundRect">
            <a:avLst>
              <a:gd name="adj" fmla="val 7500"/>
            </a:avLst>
          </a:prstGeom>
          <a:solidFill>
            <a:srgbClr val="F0D4F7"/>
          </a:solidFill>
          <a:ln/>
        </p:spPr>
      </p:sp>
      <p:pic>
        <p:nvPicPr>
          <p:cNvPr id="9" name="Image 0" descr="preencoded.png">    </p:cNvPr>
          <p:cNvPicPr>
            <a:picLocks noChangeAspect="1"/>
          </p:cNvPicPr>
          <p:nvPr/>
        </p:nvPicPr>
        <p:blipFill>
          <a:blip r:embed="rId1"/>
          <a:stretch>
            <a:fillRect/>
          </a:stretch>
        </p:blipFill>
        <p:spPr>
          <a:xfrm>
            <a:off x="658052" y="3003791"/>
            <a:ext cx="182775" cy="146220"/>
          </a:xfrm>
          <a:prstGeom prst="rect">
            <a:avLst/>
          </a:prstGeom>
        </p:spPr>
      </p:pic>
      <p:sp>
        <p:nvSpPr>
          <p:cNvPr id="10" name="Text 7"/>
          <p:cNvSpPr/>
          <p:nvPr/>
        </p:nvSpPr>
        <p:spPr>
          <a:xfrm>
            <a:off x="987047" y="2974190"/>
            <a:ext cx="5916928" cy="468077"/>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000000"/>
                </a:solidFill>
                <a:latin typeface="Source Sans 3" pitchFamily="34" charset="0"/>
                <a:ea typeface="Source Sans 3" pitchFamily="34" charset="-122"/>
                <a:cs typeface="Source Sans 3" pitchFamily="34" charset="-120"/>
              </a:rPr>
              <a:t>Theme accent color is used here for emphasis. Ensure Python and MongoDB versions match campus guidelines before deployment.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11832" y="402167"/>
            <a:ext cx="6538363" cy="430168"/>
          </a:xfrm>
          <a:prstGeom prst="rect">
            <a:avLst/>
          </a:prstGeom>
          <a:noFill/>
          <a:ln/>
        </p:spPr>
        <p:txBody>
          <a:bodyPr wrap="none" lIns="0" tIns="0" rIns="0" bIns="0" rtlCol="0" anchor="t"/>
          <a:lstStyle/>
          <a:p>
            <a:pPr algn="l" indent="0" marL="0">
              <a:lnSpc>
                <a:spcPct val="104000"/>
              </a:lnSpc>
              <a:buNone/>
            </a:pPr>
            <a:r>
              <a:rPr lang="en-US" sz="2700" dirty="0">
                <a:solidFill>
                  <a:srgbClr val="000000"/>
                </a:solidFill>
                <a:latin typeface="Source Serif 4 SemiBold" pitchFamily="34" charset="0"/>
                <a:ea typeface="Source Serif 4 SemiBold" pitchFamily="34" charset="-122"/>
                <a:cs typeface="Source Serif 4 SemiBold" pitchFamily="34" charset="-120"/>
              </a:rPr>
              <a:t>Income &amp; Expense Categories</a:t>
            </a:r>
            <a:endParaRPr lang="en-US" sz="2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1832" y="1124837"/>
            <a:ext cx="365612" cy="365612"/>
          </a:xfrm>
          <a:prstGeom prst="rect">
            <a:avLst/>
          </a:prstGeom>
        </p:spPr>
      </p:pic>
      <p:sp>
        <p:nvSpPr>
          <p:cNvPr id="4" name="Text 1"/>
          <p:cNvSpPr/>
          <p:nvPr/>
        </p:nvSpPr>
        <p:spPr>
          <a:xfrm>
            <a:off x="511832" y="1673224"/>
            <a:ext cx="3177763"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Income Categories</a:t>
            </a:r>
            <a:endParaRPr lang="en-US" sz="1350" dirty="0"/>
          </a:p>
        </p:txBody>
      </p:sp>
      <p:sp>
        <p:nvSpPr>
          <p:cNvPr id="5" name="Text 2"/>
          <p:cNvSpPr/>
          <p:nvPr/>
        </p:nvSpPr>
        <p:spPr>
          <a:xfrm>
            <a:off x="511832" y="1976003"/>
            <a:ext cx="3177763" cy="468077"/>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Salary, Business, Freelancing, Investment, Gift, Other</a:t>
            </a:r>
            <a:endParaRPr lang="en-US" sz="11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72370" y="1124837"/>
            <a:ext cx="365612" cy="365612"/>
          </a:xfrm>
          <a:prstGeom prst="rect">
            <a:avLst/>
          </a:prstGeom>
        </p:spPr>
      </p:pic>
      <p:sp>
        <p:nvSpPr>
          <p:cNvPr id="7" name="Text 3"/>
          <p:cNvSpPr/>
          <p:nvPr/>
        </p:nvSpPr>
        <p:spPr>
          <a:xfrm>
            <a:off x="3872370" y="1673224"/>
            <a:ext cx="3177825"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Expense Categories</a:t>
            </a:r>
            <a:endParaRPr lang="en-US" sz="1350" dirty="0"/>
          </a:p>
        </p:txBody>
      </p:sp>
      <p:sp>
        <p:nvSpPr>
          <p:cNvPr id="8" name="Text 4"/>
          <p:cNvSpPr/>
          <p:nvPr/>
        </p:nvSpPr>
        <p:spPr>
          <a:xfrm>
            <a:off x="3872370" y="1976003"/>
            <a:ext cx="3177825" cy="468077"/>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Food, Transport, Shopping, Bills, Health care, Education, Entertainment, Travel, Rent, Other</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11832" y="402167"/>
            <a:ext cx="6538363" cy="430168"/>
          </a:xfrm>
          <a:prstGeom prst="rect">
            <a:avLst/>
          </a:prstGeom>
          <a:noFill/>
          <a:ln/>
        </p:spPr>
        <p:txBody>
          <a:bodyPr wrap="none" lIns="0" tIns="0" rIns="0" bIns="0" rtlCol="0" anchor="t"/>
          <a:lstStyle/>
          <a:p>
            <a:pPr algn="l" indent="0" marL="0">
              <a:lnSpc>
                <a:spcPct val="104000"/>
              </a:lnSpc>
              <a:buNone/>
            </a:pPr>
            <a:r>
              <a:rPr lang="en-US" sz="2700" dirty="0">
                <a:solidFill>
                  <a:srgbClr val="000000"/>
                </a:solidFill>
                <a:latin typeface="Source Serif 4 SemiBold" pitchFamily="34" charset="0"/>
                <a:ea typeface="Source Serif 4 SemiBold" pitchFamily="34" charset="-122"/>
                <a:cs typeface="Source Serif 4 SemiBold" pitchFamily="34" charset="-120"/>
              </a:rPr>
              <a:t>Comparison: Existing System vs ExBot</a:t>
            </a:r>
            <a:endParaRPr lang="en-US" sz="2700" dirty="0"/>
          </a:p>
        </p:txBody>
      </p:sp>
      <p:pic>
        <p:nvPicPr>
          <p:cNvPr id="3" name="Image 0" descr="preencoded.png">    </p:cNvPr>
          <p:cNvPicPr>
            <a:picLocks noChangeAspect="1"/>
          </p:cNvPicPr>
          <p:nvPr/>
        </p:nvPicPr>
        <p:blipFill>
          <a:blip r:embed="rId1"/>
          <a:stretch>
            <a:fillRect/>
          </a:stretch>
        </p:blipFill>
        <p:spPr>
          <a:xfrm>
            <a:off x="511832" y="1124837"/>
            <a:ext cx="6538363" cy="3272415"/>
          </a:xfrm>
          <a:prstGeom prst="rect">
            <a:avLst/>
          </a:prstGeom>
        </p:spPr>
      </p:pic>
      <p:sp>
        <p:nvSpPr>
          <p:cNvPr id="4" name="Text 1"/>
          <p:cNvSpPr/>
          <p:nvPr/>
        </p:nvSpPr>
        <p:spPr>
          <a:xfrm>
            <a:off x="541260" y="2628878"/>
            <a:ext cx="1227971" cy="172786"/>
          </a:xfrm>
          <a:prstGeom prst="rect">
            <a:avLst/>
          </a:prstGeom>
          <a:noFill/>
          <a:ln/>
        </p:spPr>
        <p:txBody>
          <a:bodyPr wrap="none" lIns="0" tIns="0" rIns="0" bIns="0" rtlCol="0" anchor="t"/>
          <a:lstStyle/>
          <a:p>
            <a:pPr algn="ctr" indent="0" marL="0">
              <a:lnSpc>
                <a:spcPct val="104000"/>
              </a:lnSpc>
              <a:buNone/>
            </a:pPr>
            <a:r>
              <a:rPr lang="en-US" sz="1050" dirty="0">
                <a:solidFill>
                  <a:srgbClr val="272525"/>
                </a:solidFill>
                <a:latin typeface="Source Serif 4 SemiBold" pitchFamily="34" charset="0"/>
                <a:ea typeface="Source Serif 4 SemiBold" pitchFamily="34" charset="-122"/>
                <a:cs typeface="Source Serif 4 SemiBold" pitchFamily="34" charset="-120"/>
              </a:rPr>
              <a:t>Usability</a:t>
            </a:r>
            <a:endParaRPr lang="en-US" sz="1050" dirty="0"/>
          </a:p>
        </p:txBody>
      </p:sp>
      <p:sp>
        <p:nvSpPr>
          <p:cNvPr id="5" name="Text 2"/>
          <p:cNvSpPr/>
          <p:nvPr/>
        </p:nvSpPr>
        <p:spPr>
          <a:xfrm>
            <a:off x="3090892" y="4124143"/>
            <a:ext cx="1383100" cy="172785"/>
          </a:xfrm>
          <a:prstGeom prst="rect">
            <a:avLst/>
          </a:prstGeom>
          <a:noFill/>
          <a:ln/>
        </p:spPr>
        <p:txBody>
          <a:bodyPr wrap="none" lIns="0" tIns="0" rIns="0" bIns="0" rtlCol="0" anchor="t"/>
          <a:lstStyle/>
          <a:p>
            <a:pPr algn="ctr" indent="0" marL="0">
              <a:lnSpc>
                <a:spcPct val="104000"/>
              </a:lnSpc>
              <a:buNone/>
            </a:pPr>
            <a:r>
              <a:rPr lang="en-US" sz="1050" dirty="0">
                <a:solidFill>
                  <a:srgbClr val="272525"/>
                </a:solidFill>
                <a:latin typeface="Source Serif 4 SemiBold" pitchFamily="34" charset="0"/>
                <a:ea typeface="Source Serif 4 SemiBold" pitchFamily="34" charset="-122"/>
                <a:cs typeface="Source Serif 4 SemiBold" pitchFamily="34" charset="-120"/>
              </a:rPr>
              <a:t>Risk &amp; Security</a:t>
            </a:r>
            <a:endParaRPr lang="en-US" sz="1050" dirty="0"/>
          </a:p>
        </p:txBody>
      </p:sp>
      <p:sp>
        <p:nvSpPr>
          <p:cNvPr id="6" name="Text 3"/>
          <p:cNvSpPr/>
          <p:nvPr/>
        </p:nvSpPr>
        <p:spPr>
          <a:xfrm>
            <a:off x="5786264" y="2628878"/>
            <a:ext cx="1227971" cy="172786"/>
          </a:xfrm>
          <a:prstGeom prst="rect">
            <a:avLst/>
          </a:prstGeom>
          <a:noFill/>
          <a:ln/>
        </p:spPr>
        <p:txBody>
          <a:bodyPr wrap="none" lIns="0" tIns="0" rIns="0" bIns="0" rtlCol="0" anchor="t"/>
          <a:lstStyle/>
          <a:p>
            <a:pPr algn="ctr" indent="0" marL="0">
              <a:lnSpc>
                <a:spcPct val="104000"/>
              </a:lnSpc>
              <a:buNone/>
            </a:pPr>
            <a:r>
              <a:rPr lang="en-US" sz="1050" dirty="0">
                <a:solidFill>
                  <a:srgbClr val="272525"/>
                </a:solidFill>
                <a:latin typeface="Source Serif 4 SemiBold" pitchFamily="34" charset="0"/>
                <a:ea typeface="Source Serif 4 SemiBold" pitchFamily="34" charset="-122"/>
                <a:cs typeface="Source Serif 4 SemiBold" pitchFamily="34" charset="-120"/>
              </a:rPr>
              <a:t>Efficiency</a:t>
            </a:r>
            <a:endParaRPr lang="en-US" sz="1050" dirty="0"/>
          </a:p>
        </p:txBody>
      </p:sp>
      <p:sp>
        <p:nvSpPr>
          <p:cNvPr id="7" name="Text 4"/>
          <p:cNvSpPr/>
          <p:nvPr/>
        </p:nvSpPr>
        <p:spPr>
          <a:xfrm>
            <a:off x="3087218" y="1264658"/>
            <a:ext cx="1383100" cy="172786"/>
          </a:xfrm>
          <a:prstGeom prst="rect">
            <a:avLst/>
          </a:prstGeom>
          <a:noFill/>
          <a:ln/>
        </p:spPr>
        <p:txBody>
          <a:bodyPr wrap="none" lIns="0" tIns="0" rIns="0" bIns="0" rtlCol="0" anchor="t"/>
          <a:lstStyle/>
          <a:p>
            <a:pPr algn="ctr" indent="0" marL="0">
              <a:lnSpc>
                <a:spcPct val="104000"/>
              </a:lnSpc>
              <a:buNone/>
            </a:pPr>
            <a:r>
              <a:rPr lang="en-US" sz="1050" dirty="0">
                <a:solidFill>
                  <a:srgbClr val="272525"/>
                </a:solidFill>
                <a:latin typeface="Source Serif 4 SemiBold" pitchFamily="34" charset="0"/>
                <a:ea typeface="Source Serif 4 SemiBold" pitchFamily="34" charset="-122"/>
                <a:cs typeface="Source Serif 4 SemiBold" pitchFamily="34" charset="-120"/>
              </a:rPr>
              <a:t>Reliable Data</a:t>
            </a:r>
            <a:endParaRPr lang="en-US" sz="1050" dirty="0"/>
          </a:p>
        </p:txBody>
      </p:sp>
      <p:sp>
        <p:nvSpPr>
          <p:cNvPr id="8" name="Text 5"/>
          <p:cNvSpPr/>
          <p:nvPr/>
        </p:nvSpPr>
        <p:spPr>
          <a:xfrm>
            <a:off x="2344026" y="3391360"/>
            <a:ext cx="1260630" cy="293930"/>
          </a:xfrm>
          <a:prstGeom prst="rect">
            <a:avLst/>
          </a:prstGeom>
          <a:noFill/>
          <a:ln/>
        </p:spPr>
        <p:txBody>
          <a:bodyPr wrap="square" lIns="0" tIns="0" rIns="0" bIns="0" rtlCol="0" anchor="t">
            <a:normAutofit/>
          </a:bodyPr>
          <a:lstStyle/>
          <a:p>
            <a:pPr algn="ctr" indent="0" marL="0">
              <a:lnSpc>
                <a:spcPct val="104000"/>
              </a:lnSpc>
              <a:buNone/>
            </a:pPr>
            <a:r>
              <a:rPr lang="en-US" sz="900" dirty="0">
                <a:solidFill>
                  <a:srgbClr val="272525"/>
                </a:solidFill>
                <a:latin typeface="Source Sans 3" pitchFamily="34" charset="0"/>
                <a:ea typeface="Source Sans 3" pitchFamily="34" charset="-122"/>
                <a:cs typeface="Source Sans 3" pitchFamily="34" charset="-120"/>
              </a:rPr>
              <a:t>Paper Trails — Inconsistent, Insecure</a:t>
            </a:r>
            <a:endParaRPr lang="en-US" sz="900" dirty="0"/>
          </a:p>
        </p:txBody>
      </p:sp>
      <p:sp>
        <p:nvSpPr>
          <p:cNvPr id="9" name="Text 6"/>
          <p:cNvSpPr/>
          <p:nvPr/>
        </p:nvSpPr>
        <p:spPr>
          <a:xfrm>
            <a:off x="4074943" y="3397892"/>
            <a:ext cx="1260630" cy="293929"/>
          </a:xfrm>
          <a:prstGeom prst="rect">
            <a:avLst/>
          </a:prstGeom>
          <a:noFill/>
          <a:ln/>
        </p:spPr>
        <p:txBody>
          <a:bodyPr wrap="square" lIns="0" tIns="0" rIns="0" bIns="0" rtlCol="0" anchor="t">
            <a:normAutofit/>
          </a:bodyPr>
          <a:lstStyle/>
          <a:p>
            <a:pPr algn="ctr" indent="0" marL="0">
              <a:lnSpc>
                <a:spcPct val="104000"/>
              </a:lnSpc>
              <a:buNone/>
            </a:pPr>
            <a:r>
              <a:rPr lang="en-US" sz="900" dirty="0">
                <a:solidFill>
                  <a:srgbClr val="272525"/>
                </a:solidFill>
                <a:latin typeface="Source Sans 3" pitchFamily="34" charset="0"/>
                <a:ea typeface="Source Sans 3" pitchFamily="34" charset="-122"/>
                <a:cs typeface="Source Sans 3" pitchFamily="34" charset="-120"/>
              </a:rPr>
              <a:t>Mobile AI Logging — Fast, Accurate, Portable</a:t>
            </a:r>
            <a:endParaRPr lang="en-US" sz="900" dirty="0"/>
          </a:p>
        </p:txBody>
      </p:sp>
      <p:sp>
        <p:nvSpPr>
          <p:cNvPr id="10" name="Text 7"/>
          <p:cNvSpPr/>
          <p:nvPr/>
        </p:nvSpPr>
        <p:spPr>
          <a:xfrm>
            <a:off x="4074943" y="2189515"/>
            <a:ext cx="1260630" cy="293930"/>
          </a:xfrm>
          <a:prstGeom prst="rect">
            <a:avLst/>
          </a:prstGeom>
          <a:noFill/>
          <a:ln/>
        </p:spPr>
        <p:txBody>
          <a:bodyPr wrap="square" lIns="0" tIns="0" rIns="0" bIns="0" rtlCol="0" anchor="t">
            <a:normAutofit/>
          </a:bodyPr>
          <a:lstStyle/>
          <a:p>
            <a:pPr algn="ctr" indent="0" marL="0">
              <a:lnSpc>
                <a:spcPct val="104000"/>
              </a:lnSpc>
              <a:buNone/>
            </a:pPr>
            <a:r>
              <a:rPr lang="en-US" sz="900" dirty="0">
                <a:solidFill>
                  <a:srgbClr val="272525"/>
                </a:solidFill>
                <a:latin typeface="Source Sans 3" pitchFamily="34" charset="0"/>
                <a:ea typeface="Source Sans 3" pitchFamily="34" charset="-122"/>
                <a:cs typeface="Source Sans 3" pitchFamily="34" charset="-120"/>
              </a:rPr>
              <a:t>ExBot — Automated, Centralized, Secure</a:t>
            </a:r>
            <a:endParaRPr lang="en-US" sz="900" dirty="0"/>
          </a:p>
        </p:txBody>
      </p:sp>
      <p:sp>
        <p:nvSpPr>
          <p:cNvPr id="11" name="Text 8"/>
          <p:cNvSpPr/>
          <p:nvPr/>
        </p:nvSpPr>
        <p:spPr>
          <a:xfrm>
            <a:off x="2304835" y="2189515"/>
            <a:ext cx="1260630" cy="293930"/>
          </a:xfrm>
          <a:prstGeom prst="rect">
            <a:avLst/>
          </a:prstGeom>
          <a:noFill/>
          <a:ln/>
        </p:spPr>
        <p:txBody>
          <a:bodyPr wrap="square" lIns="0" tIns="0" rIns="0" bIns="0" rtlCol="0" anchor="t">
            <a:normAutofit/>
          </a:bodyPr>
          <a:lstStyle/>
          <a:p>
            <a:pPr algn="ctr" indent="0" marL="0">
              <a:lnSpc>
                <a:spcPct val="104000"/>
              </a:lnSpc>
              <a:buNone/>
            </a:pPr>
            <a:r>
              <a:rPr lang="en-US" sz="900" dirty="0">
                <a:solidFill>
                  <a:srgbClr val="272525"/>
                </a:solidFill>
                <a:latin typeface="Source Sans 3" pitchFamily="34" charset="0"/>
                <a:ea typeface="Source Sans 3" pitchFamily="34" charset="-122"/>
                <a:cs typeface="Source Sans 3" pitchFamily="34" charset="-120"/>
              </a:rPr>
              <a:t>Manual Notebooks &amp; Excel — Slow, Error-Prone</a:t>
            </a:r>
            <a:endParaRPr lang="en-US" sz="900" dirty="0"/>
          </a:p>
        </p:txBody>
      </p:sp>
      <p:sp>
        <p:nvSpPr>
          <p:cNvPr id="12" name="Text 9"/>
          <p:cNvSpPr/>
          <p:nvPr/>
        </p:nvSpPr>
        <p:spPr>
          <a:xfrm>
            <a:off x="511832" y="4561750"/>
            <a:ext cx="6538363" cy="702115"/>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The diagram contrasts the traditional manual approach with ExBot's streamlined solution. ExBot reduces human error, automates calculations, supports mobile entry and AI-driven logging, and centralizes data for reporting—making daily finance management practical for students and busy users alike.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11832" y="402167"/>
            <a:ext cx="6538363" cy="860336"/>
          </a:xfrm>
          <a:prstGeom prst="rect">
            <a:avLst/>
          </a:prstGeom>
          <a:noFill/>
          <a:ln/>
        </p:spPr>
        <p:txBody>
          <a:bodyPr wrap="square" lIns="0" tIns="0" rIns="0" bIns="0" rtlCol="0" anchor="t">
            <a:normAutofit/>
          </a:bodyPr>
          <a:lstStyle/>
          <a:p>
            <a:pPr algn="l" indent="0" marL="0">
              <a:lnSpc>
                <a:spcPct val="104000"/>
              </a:lnSpc>
              <a:buNone/>
            </a:pPr>
            <a:r>
              <a:rPr lang="en-US" sz="2700" dirty="0">
                <a:solidFill>
                  <a:srgbClr val="000000"/>
                </a:solidFill>
                <a:latin typeface="Source Serif 4 SemiBold" pitchFamily="34" charset="0"/>
                <a:ea typeface="Source Serif 4 SemiBold" pitchFamily="34" charset="-122"/>
                <a:cs typeface="Source Serif 4 SemiBold" pitchFamily="34" charset="-120"/>
              </a:rPr>
              <a:t>Sample Data Log — Requirement Gathering</a:t>
            </a:r>
            <a:endParaRPr lang="en-US" sz="2700" dirty="0"/>
          </a:p>
        </p:txBody>
      </p:sp>
      <p:sp>
        <p:nvSpPr>
          <p:cNvPr id="3" name="Shape 1"/>
          <p:cNvSpPr/>
          <p:nvPr/>
        </p:nvSpPr>
        <p:spPr>
          <a:xfrm>
            <a:off x="511832" y="1555005"/>
            <a:ext cx="6538363" cy="4606121"/>
          </a:xfrm>
          <a:prstGeom prst="roundRect">
            <a:avLst>
              <a:gd name="adj" fmla="val 1334"/>
            </a:avLst>
          </a:prstGeom>
          <a:noFill/>
          <a:ln w="7877">
            <a:solidFill>
              <a:srgbClr val="000000">
                <a:alpha val="8000"/>
              </a:srgbClr>
            </a:solidFill>
            <a:prstDash val="solid"/>
          </a:ln>
        </p:spPr>
      </p:sp>
      <p:sp>
        <p:nvSpPr>
          <p:cNvPr id="4" name="Shape 2"/>
          <p:cNvSpPr/>
          <p:nvPr/>
        </p:nvSpPr>
        <p:spPr>
          <a:xfrm>
            <a:off x="519709" y="1562882"/>
            <a:ext cx="6522609" cy="417306"/>
          </a:xfrm>
          <a:prstGeom prst="rect">
            <a:avLst/>
          </a:prstGeom>
          <a:solidFill>
            <a:srgbClr val="FFFFFF">
              <a:alpha val="4000"/>
            </a:srgbClr>
          </a:solidFill>
          <a:ln/>
        </p:spPr>
      </p:sp>
      <p:sp>
        <p:nvSpPr>
          <p:cNvPr id="5" name="Shape 3"/>
          <p:cNvSpPr/>
          <p:nvPr/>
        </p:nvSpPr>
        <p:spPr>
          <a:xfrm>
            <a:off x="519832" y="1562882"/>
            <a:ext cx="1956740" cy="417306"/>
          </a:xfrm>
          <a:prstGeom prst="rect">
            <a:avLst/>
          </a:prstGeom>
          <a:solidFill>
            <a:srgbClr val="BE49DF"/>
          </a:solidFill>
          <a:ln/>
        </p:spPr>
      </p:sp>
      <p:sp>
        <p:nvSpPr>
          <p:cNvPr id="6" name="Text 4"/>
          <p:cNvSpPr/>
          <p:nvPr/>
        </p:nvSpPr>
        <p:spPr>
          <a:xfrm>
            <a:off x="666052" y="1654516"/>
            <a:ext cx="2040434" cy="234038"/>
          </a:xfrm>
          <a:prstGeom prst="rect">
            <a:avLst/>
          </a:prstGeom>
          <a:noFill/>
          <a:ln/>
        </p:spPr>
        <p:txBody>
          <a:bodyPr wrap="none" lIns="0" tIns="0" rIns="0" bIns="0" rtlCol="0" anchor="t"/>
          <a:lstStyle/>
          <a:p>
            <a:pPr algn="l" indent="0" marL="0">
              <a:lnSpc>
                <a:spcPct val="133000"/>
              </a:lnSpc>
              <a:buNone/>
            </a:pPr>
            <a:r>
              <a:rPr lang="en-US" sz="1150" b="1" dirty="0">
                <a:solidFill>
                  <a:srgbClr val="000000"/>
                </a:solidFill>
                <a:latin typeface="Source Sans 3 Bold" pitchFamily="34" charset="0"/>
                <a:ea typeface="Source Sans 3 Bold" pitchFamily="34" charset="-122"/>
                <a:cs typeface="Source Sans 3 Bold" pitchFamily="34" charset="-120"/>
              </a:rPr>
              <a:t>Type</a:t>
            </a:r>
            <a:endParaRPr lang="en-US" sz="1150" dirty="0"/>
          </a:p>
        </p:txBody>
      </p:sp>
      <p:sp>
        <p:nvSpPr>
          <p:cNvPr id="7" name="Shape 5"/>
          <p:cNvSpPr/>
          <p:nvPr/>
        </p:nvSpPr>
        <p:spPr>
          <a:xfrm>
            <a:off x="2476572" y="1562882"/>
            <a:ext cx="1630637" cy="417306"/>
          </a:xfrm>
          <a:prstGeom prst="rect">
            <a:avLst/>
          </a:prstGeom>
          <a:solidFill>
            <a:srgbClr val="BE49DF"/>
          </a:solidFill>
          <a:ln/>
        </p:spPr>
      </p:sp>
      <p:sp>
        <p:nvSpPr>
          <p:cNvPr id="8" name="Text 6"/>
          <p:cNvSpPr/>
          <p:nvPr/>
        </p:nvSpPr>
        <p:spPr>
          <a:xfrm>
            <a:off x="2624761" y="1654516"/>
            <a:ext cx="1712362" cy="234038"/>
          </a:xfrm>
          <a:prstGeom prst="rect">
            <a:avLst/>
          </a:prstGeom>
          <a:noFill/>
          <a:ln/>
        </p:spPr>
        <p:txBody>
          <a:bodyPr wrap="none" lIns="0" tIns="0" rIns="0" bIns="0" rtlCol="0" anchor="t"/>
          <a:lstStyle/>
          <a:p>
            <a:pPr algn="l" indent="0" marL="0">
              <a:lnSpc>
                <a:spcPct val="133000"/>
              </a:lnSpc>
              <a:buNone/>
            </a:pPr>
            <a:r>
              <a:rPr lang="en-US" sz="1150" b="1" dirty="0">
                <a:solidFill>
                  <a:srgbClr val="000000"/>
                </a:solidFill>
                <a:latin typeface="Source Sans 3 Bold" pitchFamily="34" charset="0"/>
                <a:ea typeface="Source Sans 3 Bold" pitchFamily="34" charset="-122"/>
                <a:cs typeface="Source Sans 3 Bold" pitchFamily="34" charset="-120"/>
              </a:rPr>
              <a:t>Amount (₹)</a:t>
            </a:r>
            <a:endParaRPr lang="en-US" sz="1150" dirty="0"/>
          </a:p>
        </p:txBody>
      </p:sp>
      <p:sp>
        <p:nvSpPr>
          <p:cNvPr id="9" name="Shape 7"/>
          <p:cNvSpPr/>
          <p:nvPr/>
        </p:nvSpPr>
        <p:spPr>
          <a:xfrm>
            <a:off x="4107208" y="1562882"/>
            <a:ext cx="1630637" cy="417306"/>
          </a:xfrm>
          <a:prstGeom prst="rect">
            <a:avLst/>
          </a:prstGeom>
          <a:solidFill>
            <a:srgbClr val="BE49DF"/>
          </a:solidFill>
          <a:ln/>
        </p:spPr>
      </p:sp>
      <p:sp>
        <p:nvSpPr>
          <p:cNvPr id="10" name="Text 8"/>
          <p:cNvSpPr/>
          <p:nvPr/>
        </p:nvSpPr>
        <p:spPr>
          <a:xfrm>
            <a:off x="4255398" y="1654516"/>
            <a:ext cx="1712362" cy="234038"/>
          </a:xfrm>
          <a:prstGeom prst="rect">
            <a:avLst/>
          </a:prstGeom>
          <a:noFill/>
          <a:ln/>
        </p:spPr>
        <p:txBody>
          <a:bodyPr wrap="none" lIns="0" tIns="0" rIns="0" bIns="0" rtlCol="0" anchor="t"/>
          <a:lstStyle/>
          <a:p>
            <a:pPr algn="l" indent="0" marL="0">
              <a:lnSpc>
                <a:spcPct val="133000"/>
              </a:lnSpc>
              <a:buNone/>
            </a:pPr>
            <a:r>
              <a:rPr lang="en-US" sz="1150" b="1" dirty="0">
                <a:solidFill>
                  <a:srgbClr val="000000"/>
                </a:solidFill>
                <a:latin typeface="Source Sans 3 Bold" pitchFamily="34" charset="0"/>
                <a:ea typeface="Source Sans 3 Bold" pitchFamily="34" charset="-122"/>
                <a:cs typeface="Source Sans 3 Bold" pitchFamily="34" charset="-120"/>
              </a:rPr>
              <a:t>Category</a:t>
            </a:r>
            <a:endParaRPr lang="en-US" sz="1150" dirty="0"/>
          </a:p>
        </p:txBody>
      </p:sp>
      <p:sp>
        <p:nvSpPr>
          <p:cNvPr id="11" name="Shape 9"/>
          <p:cNvSpPr/>
          <p:nvPr/>
        </p:nvSpPr>
        <p:spPr>
          <a:xfrm>
            <a:off x="5737845" y="1562882"/>
            <a:ext cx="1304472" cy="417306"/>
          </a:xfrm>
          <a:prstGeom prst="rect">
            <a:avLst/>
          </a:prstGeom>
          <a:solidFill>
            <a:srgbClr val="BE49DF"/>
          </a:solidFill>
          <a:ln/>
        </p:spPr>
      </p:sp>
      <p:sp>
        <p:nvSpPr>
          <p:cNvPr id="12" name="Text 10"/>
          <p:cNvSpPr/>
          <p:nvPr/>
        </p:nvSpPr>
        <p:spPr>
          <a:xfrm>
            <a:off x="5886034" y="1654516"/>
            <a:ext cx="1388167" cy="234038"/>
          </a:xfrm>
          <a:prstGeom prst="rect">
            <a:avLst/>
          </a:prstGeom>
          <a:noFill/>
          <a:ln/>
        </p:spPr>
        <p:txBody>
          <a:bodyPr wrap="none" lIns="0" tIns="0" rIns="0" bIns="0" rtlCol="0" anchor="t"/>
          <a:lstStyle/>
          <a:p>
            <a:pPr algn="l" indent="0" marL="0">
              <a:lnSpc>
                <a:spcPct val="133000"/>
              </a:lnSpc>
              <a:buNone/>
            </a:pPr>
            <a:r>
              <a:rPr lang="en-US" sz="1150" b="1" dirty="0">
                <a:solidFill>
                  <a:srgbClr val="000000"/>
                </a:solidFill>
                <a:latin typeface="Source Sans 3 Bold" pitchFamily="34" charset="0"/>
                <a:ea typeface="Source Sans 3 Bold" pitchFamily="34" charset="-122"/>
                <a:cs typeface="Source Sans 3 Bold" pitchFamily="34" charset="-120"/>
              </a:rPr>
              <a:t>Date</a:t>
            </a:r>
            <a:endParaRPr lang="en-US" sz="1150" dirty="0"/>
          </a:p>
        </p:txBody>
      </p:sp>
      <p:sp>
        <p:nvSpPr>
          <p:cNvPr id="13" name="Shape 11"/>
          <p:cNvSpPr/>
          <p:nvPr/>
        </p:nvSpPr>
        <p:spPr>
          <a:xfrm>
            <a:off x="519709" y="1980188"/>
            <a:ext cx="6522609" cy="417306"/>
          </a:xfrm>
          <a:prstGeom prst="rect">
            <a:avLst/>
          </a:prstGeom>
          <a:solidFill>
            <a:srgbClr val="000000">
              <a:alpha val="4000"/>
            </a:srgbClr>
          </a:solidFill>
          <a:ln/>
        </p:spPr>
      </p:sp>
      <p:sp>
        <p:nvSpPr>
          <p:cNvPr id="14" name="Text 12"/>
          <p:cNvSpPr/>
          <p:nvPr/>
        </p:nvSpPr>
        <p:spPr>
          <a:xfrm>
            <a:off x="666052" y="2071822"/>
            <a:ext cx="2040434"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Income</a:t>
            </a:r>
            <a:endParaRPr lang="en-US" sz="1150" dirty="0"/>
          </a:p>
        </p:txBody>
      </p:sp>
      <p:sp>
        <p:nvSpPr>
          <p:cNvPr id="15" name="Text 13"/>
          <p:cNvSpPr/>
          <p:nvPr/>
        </p:nvSpPr>
        <p:spPr>
          <a:xfrm>
            <a:off x="2624761" y="2071822"/>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+10,000</a:t>
            </a:r>
            <a:endParaRPr lang="en-US" sz="1150" dirty="0"/>
          </a:p>
        </p:txBody>
      </p:sp>
      <p:sp>
        <p:nvSpPr>
          <p:cNvPr id="16" name="Text 14"/>
          <p:cNvSpPr/>
          <p:nvPr/>
        </p:nvSpPr>
        <p:spPr>
          <a:xfrm>
            <a:off x="4255398" y="2071822"/>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Salary</a:t>
            </a:r>
            <a:endParaRPr lang="en-US" sz="1150" dirty="0"/>
          </a:p>
        </p:txBody>
      </p:sp>
      <p:sp>
        <p:nvSpPr>
          <p:cNvPr id="17" name="Text 15"/>
          <p:cNvSpPr/>
          <p:nvPr/>
        </p:nvSpPr>
        <p:spPr>
          <a:xfrm>
            <a:off x="5886034" y="2071822"/>
            <a:ext cx="1388167"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01/06/2026</a:t>
            </a:r>
            <a:endParaRPr lang="en-US" sz="1150" dirty="0"/>
          </a:p>
        </p:txBody>
      </p:sp>
      <p:sp>
        <p:nvSpPr>
          <p:cNvPr id="18" name="Shape 16"/>
          <p:cNvSpPr/>
          <p:nvPr/>
        </p:nvSpPr>
        <p:spPr>
          <a:xfrm>
            <a:off x="519709" y="2397494"/>
            <a:ext cx="6522609" cy="417306"/>
          </a:xfrm>
          <a:prstGeom prst="rect">
            <a:avLst/>
          </a:prstGeom>
          <a:solidFill>
            <a:srgbClr val="FFFFFF">
              <a:alpha val="4000"/>
            </a:srgbClr>
          </a:solidFill>
          <a:ln/>
        </p:spPr>
      </p:sp>
      <p:sp>
        <p:nvSpPr>
          <p:cNvPr id="19" name="Text 17"/>
          <p:cNvSpPr/>
          <p:nvPr/>
        </p:nvSpPr>
        <p:spPr>
          <a:xfrm>
            <a:off x="666052" y="2489128"/>
            <a:ext cx="2040434"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Expense</a:t>
            </a:r>
            <a:endParaRPr lang="en-US" sz="1150" dirty="0"/>
          </a:p>
        </p:txBody>
      </p:sp>
      <p:sp>
        <p:nvSpPr>
          <p:cNvPr id="20" name="Text 18"/>
          <p:cNvSpPr/>
          <p:nvPr/>
        </p:nvSpPr>
        <p:spPr>
          <a:xfrm>
            <a:off x="2624761" y="2489128"/>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-1,000</a:t>
            </a:r>
            <a:endParaRPr lang="en-US" sz="1150" dirty="0"/>
          </a:p>
        </p:txBody>
      </p:sp>
      <p:sp>
        <p:nvSpPr>
          <p:cNvPr id="21" name="Text 19"/>
          <p:cNvSpPr/>
          <p:nvPr/>
        </p:nvSpPr>
        <p:spPr>
          <a:xfrm>
            <a:off x="4255398" y="2489128"/>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Grocery</a:t>
            </a:r>
            <a:endParaRPr lang="en-US" sz="1150" dirty="0"/>
          </a:p>
        </p:txBody>
      </p:sp>
      <p:sp>
        <p:nvSpPr>
          <p:cNvPr id="22" name="Text 20"/>
          <p:cNvSpPr/>
          <p:nvPr/>
        </p:nvSpPr>
        <p:spPr>
          <a:xfrm>
            <a:off x="5886034" y="2489128"/>
            <a:ext cx="1388167"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01/06/2026</a:t>
            </a:r>
            <a:endParaRPr lang="en-US" sz="1150" dirty="0"/>
          </a:p>
        </p:txBody>
      </p:sp>
      <p:sp>
        <p:nvSpPr>
          <p:cNvPr id="23" name="Shape 21"/>
          <p:cNvSpPr/>
          <p:nvPr/>
        </p:nvSpPr>
        <p:spPr>
          <a:xfrm>
            <a:off x="519709" y="2814800"/>
            <a:ext cx="6522609" cy="417306"/>
          </a:xfrm>
          <a:prstGeom prst="rect">
            <a:avLst/>
          </a:prstGeom>
          <a:solidFill>
            <a:srgbClr val="000000">
              <a:alpha val="4000"/>
            </a:srgbClr>
          </a:solidFill>
          <a:ln/>
        </p:spPr>
      </p:sp>
      <p:sp>
        <p:nvSpPr>
          <p:cNvPr id="24" name="Text 22"/>
          <p:cNvSpPr/>
          <p:nvPr/>
        </p:nvSpPr>
        <p:spPr>
          <a:xfrm>
            <a:off x="666052" y="2906434"/>
            <a:ext cx="2040434"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Expense</a:t>
            </a:r>
            <a:endParaRPr lang="en-US" sz="1150" dirty="0"/>
          </a:p>
        </p:txBody>
      </p:sp>
      <p:sp>
        <p:nvSpPr>
          <p:cNvPr id="25" name="Text 23"/>
          <p:cNvSpPr/>
          <p:nvPr/>
        </p:nvSpPr>
        <p:spPr>
          <a:xfrm>
            <a:off x="2624761" y="2906434"/>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-2,000</a:t>
            </a:r>
            <a:endParaRPr lang="en-US" sz="1150" dirty="0"/>
          </a:p>
        </p:txBody>
      </p:sp>
      <p:sp>
        <p:nvSpPr>
          <p:cNvPr id="26" name="Text 24"/>
          <p:cNvSpPr/>
          <p:nvPr/>
        </p:nvSpPr>
        <p:spPr>
          <a:xfrm>
            <a:off x="4255398" y="2906434"/>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Shopping</a:t>
            </a:r>
            <a:endParaRPr lang="en-US" sz="1150" dirty="0"/>
          </a:p>
        </p:txBody>
      </p:sp>
      <p:sp>
        <p:nvSpPr>
          <p:cNvPr id="27" name="Text 25"/>
          <p:cNvSpPr/>
          <p:nvPr/>
        </p:nvSpPr>
        <p:spPr>
          <a:xfrm>
            <a:off x="5886034" y="2906434"/>
            <a:ext cx="1388167"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05/06/2026</a:t>
            </a:r>
            <a:endParaRPr lang="en-US" sz="1150" dirty="0"/>
          </a:p>
        </p:txBody>
      </p:sp>
      <p:sp>
        <p:nvSpPr>
          <p:cNvPr id="28" name="Shape 26"/>
          <p:cNvSpPr/>
          <p:nvPr/>
        </p:nvSpPr>
        <p:spPr>
          <a:xfrm>
            <a:off x="519709" y="3232106"/>
            <a:ext cx="6522609" cy="417306"/>
          </a:xfrm>
          <a:prstGeom prst="rect">
            <a:avLst/>
          </a:prstGeom>
          <a:solidFill>
            <a:srgbClr val="FFFFFF">
              <a:alpha val="4000"/>
            </a:srgbClr>
          </a:solidFill>
          <a:ln/>
        </p:spPr>
      </p:sp>
      <p:sp>
        <p:nvSpPr>
          <p:cNvPr id="29" name="Text 27"/>
          <p:cNvSpPr/>
          <p:nvPr/>
        </p:nvSpPr>
        <p:spPr>
          <a:xfrm>
            <a:off x="666052" y="3323740"/>
            <a:ext cx="2040434"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Expense</a:t>
            </a:r>
            <a:endParaRPr lang="en-US" sz="1150" dirty="0"/>
          </a:p>
        </p:txBody>
      </p:sp>
      <p:sp>
        <p:nvSpPr>
          <p:cNvPr id="30" name="Text 28"/>
          <p:cNvSpPr/>
          <p:nvPr/>
        </p:nvSpPr>
        <p:spPr>
          <a:xfrm>
            <a:off x="2624761" y="3323740"/>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-1,500</a:t>
            </a:r>
            <a:endParaRPr lang="en-US" sz="1150" dirty="0"/>
          </a:p>
        </p:txBody>
      </p:sp>
      <p:sp>
        <p:nvSpPr>
          <p:cNvPr id="31" name="Text 29"/>
          <p:cNvSpPr/>
          <p:nvPr/>
        </p:nvSpPr>
        <p:spPr>
          <a:xfrm>
            <a:off x="4255398" y="3323740"/>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Rent</a:t>
            </a:r>
            <a:endParaRPr lang="en-US" sz="1150" dirty="0"/>
          </a:p>
        </p:txBody>
      </p:sp>
      <p:sp>
        <p:nvSpPr>
          <p:cNvPr id="32" name="Text 30"/>
          <p:cNvSpPr/>
          <p:nvPr/>
        </p:nvSpPr>
        <p:spPr>
          <a:xfrm>
            <a:off x="5886034" y="3323740"/>
            <a:ext cx="1388167"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05/06/2026</a:t>
            </a:r>
            <a:endParaRPr lang="en-US" sz="1150" dirty="0"/>
          </a:p>
        </p:txBody>
      </p:sp>
      <p:sp>
        <p:nvSpPr>
          <p:cNvPr id="33" name="Shape 31"/>
          <p:cNvSpPr/>
          <p:nvPr/>
        </p:nvSpPr>
        <p:spPr>
          <a:xfrm>
            <a:off x="519709" y="3649412"/>
            <a:ext cx="6522609" cy="417306"/>
          </a:xfrm>
          <a:prstGeom prst="rect">
            <a:avLst/>
          </a:prstGeom>
          <a:solidFill>
            <a:srgbClr val="000000">
              <a:alpha val="4000"/>
            </a:srgbClr>
          </a:solidFill>
          <a:ln/>
        </p:spPr>
      </p:sp>
      <p:sp>
        <p:nvSpPr>
          <p:cNvPr id="34" name="Text 32"/>
          <p:cNvSpPr/>
          <p:nvPr/>
        </p:nvSpPr>
        <p:spPr>
          <a:xfrm>
            <a:off x="666052" y="3741046"/>
            <a:ext cx="2040434"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Expense</a:t>
            </a:r>
            <a:endParaRPr lang="en-US" sz="1150" dirty="0"/>
          </a:p>
        </p:txBody>
      </p:sp>
      <p:sp>
        <p:nvSpPr>
          <p:cNvPr id="35" name="Text 33"/>
          <p:cNvSpPr/>
          <p:nvPr/>
        </p:nvSpPr>
        <p:spPr>
          <a:xfrm>
            <a:off x="2624761" y="3741046"/>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-1,500</a:t>
            </a:r>
            <a:endParaRPr lang="en-US" sz="1150" dirty="0"/>
          </a:p>
        </p:txBody>
      </p:sp>
      <p:sp>
        <p:nvSpPr>
          <p:cNvPr id="36" name="Text 34"/>
          <p:cNvSpPr/>
          <p:nvPr/>
        </p:nvSpPr>
        <p:spPr>
          <a:xfrm>
            <a:off x="4255398" y="3741046"/>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Loan</a:t>
            </a:r>
            <a:endParaRPr lang="en-US" sz="1150" dirty="0"/>
          </a:p>
        </p:txBody>
      </p:sp>
      <p:sp>
        <p:nvSpPr>
          <p:cNvPr id="37" name="Text 35"/>
          <p:cNvSpPr/>
          <p:nvPr/>
        </p:nvSpPr>
        <p:spPr>
          <a:xfrm>
            <a:off x="5886034" y="3741046"/>
            <a:ext cx="1388167"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05/06/2026</a:t>
            </a:r>
            <a:endParaRPr lang="en-US" sz="1150" dirty="0"/>
          </a:p>
        </p:txBody>
      </p:sp>
      <p:sp>
        <p:nvSpPr>
          <p:cNvPr id="38" name="Shape 36"/>
          <p:cNvSpPr/>
          <p:nvPr/>
        </p:nvSpPr>
        <p:spPr>
          <a:xfrm>
            <a:off x="519709" y="4066718"/>
            <a:ext cx="6522609" cy="417306"/>
          </a:xfrm>
          <a:prstGeom prst="rect">
            <a:avLst/>
          </a:prstGeom>
          <a:solidFill>
            <a:srgbClr val="FFFFFF">
              <a:alpha val="4000"/>
            </a:srgbClr>
          </a:solidFill>
          <a:ln/>
        </p:spPr>
      </p:sp>
      <p:sp>
        <p:nvSpPr>
          <p:cNvPr id="39" name="Text 37"/>
          <p:cNvSpPr/>
          <p:nvPr/>
        </p:nvSpPr>
        <p:spPr>
          <a:xfrm>
            <a:off x="666052" y="4158352"/>
            <a:ext cx="2040434"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Income</a:t>
            </a:r>
            <a:endParaRPr lang="en-US" sz="1150" dirty="0"/>
          </a:p>
        </p:txBody>
      </p:sp>
      <p:sp>
        <p:nvSpPr>
          <p:cNvPr id="40" name="Text 38"/>
          <p:cNvSpPr/>
          <p:nvPr/>
        </p:nvSpPr>
        <p:spPr>
          <a:xfrm>
            <a:off x="2624761" y="4158352"/>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+1,000</a:t>
            </a:r>
            <a:endParaRPr lang="en-US" sz="1150" dirty="0"/>
          </a:p>
        </p:txBody>
      </p:sp>
      <p:sp>
        <p:nvSpPr>
          <p:cNvPr id="41" name="Text 39"/>
          <p:cNvSpPr/>
          <p:nvPr/>
        </p:nvSpPr>
        <p:spPr>
          <a:xfrm>
            <a:off x="4255398" y="4158352"/>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Stocks</a:t>
            </a:r>
            <a:endParaRPr lang="en-US" sz="1150" dirty="0"/>
          </a:p>
        </p:txBody>
      </p:sp>
      <p:sp>
        <p:nvSpPr>
          <p:cNvPr id="42" name="Text 40"/>
          <p:cNvSpPr/>
          <p:nvPr/>
        </p:nvSpPr>
        <p:spPr>
          <a:xfrm>
            <a:off x="5886034" y="4158352"/>
            <a:ext cx="1388167"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15/06/2026</a:t>
            </a:r>
            <a:endParaRPr lang="en-US" sz="1150" dirty="0"/>
          </a:p>
        </p:txBody>
      </p:sp>
      <p:sp>
        <p:nvSpPr>
          <p:cNvPr id="43" name="Shape 41"/>
          <p:cNvSpPr/>
          <p:nvPr/>
        </p:nvSpPr>
        <p:spPr>
          <a:xfrm>
            <a:off x="519709" y="4484024"/>
            <a:ext cx="6522609" cy="417306"/>
          </a:xfrm>
          <a:prstGeom prst="rect">
            <a:avLst/>
          </a:prstGeom>
          <a:solidFill>
            <a:srgbClr val="000000">
              <a:alpha val="4000"/>
            </a:srgbClr>
          </a:solidFill>
          <a:ln/>
        </p:spPr>
      </p:sp>
      <p:sp>
        <p:nvSpPr>
          <p:cNvPr id="44" name="Text 42"/>
          <p:cNvSpPr/>
          <p:nvPr/>
        </p:nvSpPr>
        <p:spPr>
          <a:xfrm>
            <a:off x="666052" y="4575658"/>
            <a:ext cx="2040434"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Expense</a:t>
            </a:r>
            <a:endParaRPr lang="en-US" sz="1150" dirty="0"/>
          </a:p>
        </p:txBody>
      </p:sp>
      <p:sp>
        <p:nvSpPr>
          <p:cNvPr id="45" name="Text 43"/>
          <p:cNvSpPr/>
          <p:nvPr/>
        </p:nvSpPr>
        <p:spPr>
          <a:xfrm>
            <a:off x="2624761" y="4575658"/>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-2,500</a:t>
            </a:r>
            <a:endParaRPr lang="en-US" sz="1150" dirty="0"/>
          </a:p>
        </p:txBody>
      </p:sp>
      <p:sp>
        <p:nvSpPr>
          <p:cNvPr id="46" name="Text 44"/>
          <p:cNvSpPr/>
          <p:nvPr/>
        </p:nvSpPr>
        <p:spPr>
          <a:xfrm>
            <a:off x="4255398" y="4575658"/>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Saving</a:t>
            </a:r>
            <a:endParaRPr lang="en-US" sz="1150" dirty="0"/>
          </a:p>
        </p:txBody>
      </p:sp>
      <p:sp>
        <p:nvSpPr>
          <p:cNvPr id="47" name="Text 45"/>
          <p:cNvSpPr/>
          <p:nvPr/>
        </p:nvSpPr>
        <p:spPr>
          <a:xfrm>
            <a:off x="5886034" y="4575658"/>
            <a:ext cx="1388167"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20/06/2026</a:t>
            </a:r>
            <a:endParaRPr lang="en-US" sz="1150" dirty="0"/>
          </a:p>
        </p:txBody>
      </p:sp>
      <p:sp>
        <p:nvSpPr>
          <p:cNvPr id="48" name="Shape 46"/>
          <p:cNvSpPr/>
          <p:nvPr/>
        </p:nvSpPr>
        <p:spPr>
          <a:xfrm>
            <a:off x="519709" y="4901330"/>
            <a:ext cx="6522609" cy="417306"/>
          </a:xfrm>
          <a:prstGeom prst="rect">
            <a:avLst/>
          </a:prstGeom>
          <a:solidFill>
            <a:srgbClr val="FFFFFF">
              <a:alpha val="4000"/>
            </a:srgbClr>
          </a:solidFill>
          <a:ln/>
        </p:spPr>
      </p:sp>
      <p:sp>
        <p:nvSpPr>
          <p:cNvPr id="49" name="Text 47"/>
          <p:cNvSpPr/>
          <p:nvPr/>
        </p:nvSpPr>
        <p:spPr>
          <a:xfrm>
            <a:off x="666052" y="4992964"/>
            <a:ext cx="2040434"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Expense</a:t>
            </a:r>
            <a:endParaRPr lang="en-US" sz="1150" dirty="0"/>
          </a:p>
        </p:txBody>
      </p:sp>
      <p:sp>
        <p:nvSpPr>
          <p:cNvPr id="50" name="Text 48"/>
          <p:cNvSpPr/>
          <p:nvPr/>
        </p:nvSpPr>
        <p:spPr>
          <a:xfrm>
            <a:off x="2624761" y="4992964"/>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-500</a:t>
            </a:r>
            <a:endParaRPr lang="en-US" sz="1150" dirty="0"/>
          </a:p>
        </p:txBody>
      </p:sp>
      <p:sp>
        <p:nvSpPr>
          <p:cNvPr id="51" name="Text 49"/>
          <p:cNvSpPr/>
          <p:nvPr/>
        </p:nvSpPr>
        <p:spPr>
          <a:xfrm>
            <a:off x="4255398" y="4992964"/>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Vegetable</a:t>
            </a:r>
            <a:endParaRPr lang="en-US" sz="1150" dirty="0"/>
          </a:p>
        </p:txBody>
      </p:sp>
      <p:sp>
        <p:nvSpPr>
          <p:cNvPr id="52" name="Text 50"/>
          <p:cNvSpPr/>
          <p:nvPr/>
        </p:nvSpPr>
        <p:spPr>
          <a:xfrm>
            <a:off x="5886034" y="4992964"/>
            <a:ext cx="1388167"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21/06/2026</a:t>
            </a:r>
            <a:endParaRPr lang="en-US" sz="1150" dirty="0"/>
          </a:p>
        </p:txBody>
      </p:sp>
      <p:sp>
        <p:nvSpPr>
          <p:cNvPr id="53" name="Shape 51"/>
          <p:cNvSpPr/>
          <p:nvPr/>
        </p:nvSpPr>
        <p:spPr>
          <a:xfrm>
            <a:off x="519709" y="5318636"/>
            <a:ext cx="6522609" cy="417306"/>
          </a:xfrm>
          <a:prstGeom prst="rect">
            <a:avLst/>
          </a:prstGeom>
          <a:solidFill>
            <a:srgbClr val="000000">
              <a:alpha val="4000"/>
            </a:srgbClr>
          </a:solidFill>
          <a:ln/>
        </p:spPr>
      </p:sp>
      <p:sp>
        <p:nvSpPr>
          <p:cNvPr id="54" name="Text 52"/>
          <p:cNvSpPr/>
          <p:nvPr/>
        </p:nvSpPr>
        <p:spPr>
          <a:xfrm>
            <a:off x="666052" y="5410270"/>
            <a:ext cx="2040434"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Expense</a:t>
            </a:r>
            <a:endParaRPr lang="en-US" sz="1150" dirty="0"/>
          </a:p>
        </p:txBody>
      </p:sp>
      <p:sp>
        <p:nvSpPr>
          <p:cNvPr id="55" name="Text 53"/>
          <p:cNvSpPr/>
          <p:nvPr/>
        </p:nvSpPr>
        <p:spPr>
          <a:xfrm>
            <a:off x="2624761" y="5410270"/>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-1,000</a:t>
            </a:r>
            <a:endParaRPr lang="en-US" sz="1150" dirty="0"/>
          </a:p>
        </p:txBody>
      </p:sp>
      <p:sp>
        <p:nvSpPr>
          <p:cNvPr id="56" name="Text 54"/>
          <p:cNvSpPr/>
          <p:nvPr/>
        </p:nvSpPr>
        <p:spPr>
          <a:xfrm>
            <a:off x="4255398" y="5410270"/>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Petrol</a:t>
            </a:r>
            <a:endParaRPr lang="en-US" sz="1150" dirty="0"/>
          </a:p>
        </p:txBody>
      </p:sp>
      <p:sp>
        <p:nvSpPr>
          <p:cNvPr id="57" name="Text 55"/>
          <p:cNvSpPr/>
          <p:nvPr/>
        </p:nvSpPr>
        <p:spPr>
          <a:xfrm>
            <a:off x="5886034" y="5410270"/>
            <a:ext cx="1388167"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22/06/2026</a:t>
            </a:r>
            <a:endParaRPr lang="en-US" sz="1150" dirty="0"/>
          </a:p>
        </p:txBody>
      </p:sp>
      <p:sp>
        <p:nvSpPr>
          <p:cNvPr id="58" name="Shape 56"/>
          <p:cNvSpPr/>
          <p:nvPr/>
        </p:nvSpPr>
        <p:spPr>
          <a:xfrm>
            <a:off x="519709" y="5735942"/>
            <a:ext cx="6522609" cy="417306"/>
          </a:xfrm>
          <a:prstGeom prst="rect">
            <a:avLst/>
          </a:prstGeom>
          <a:solidFill>
            <a:srgbClr val="FFFFFF">
              <a:alpha val="4000"/>
            </a:srgbClr>
          </a:solidFill>
          <a:ln/>
        </p:spPr>
      </p:sp>
      <p:sp>
        <p:nvSpPr>
          <p:cNvPr id="59" name="Text 57"/>
          <p:cNvSpPr/>
          <p:nvPr/>
        </p:nvSpPr>
        <p:spPr>
          <a:xfrm>
            <a:off x="666052" y="5827576"/>
            <a:ext cx="2040434"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Expense</a:t>
            </a:r>
            <a:endParaRPr lang="en-US" sz="1150" dirty="0"/>
          </a:p>
        </p:txBody>
      </p:sp>
      <p:sp>
        <p:nvSpPr>
          <p:cNvPr id="60" name="Text 58"/>
          <p:cNvSpPr/>
          <p:nvPr/>
        </p:nvSpPr>
        <p:spPr>
          <a:xfrm>
            <a:off x="2624761" y="5827576"/>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-1,000</a:t>
            </a:r>
            <a:endParaRPr lang="en-US" sz="1150" dirty="0"/>
          </a:p>
        </p:txBody>
      </p:sp>
      <p:sp>
        <p:nvSpPr>
          <p:cNvPr id="61" name="Text 59"/>
          <p:cNvSpPr/>
          <p:nvPr/>
        </p:nvSpPr>
        <p:spPr>
          <a:xfrm>
            <a:off x="4255398" y="5827576"/>
            <a:ext cx="1712362"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Repair</a:t>
            </a:r>
            <a:endParaRPr lang="en-US" sz="1150" dirty="0"/>
          </a:p>
        </p:txBody>
      </p:sp>
      <p:sp>
        <p:nvSpPr>
          <p:cNvPr id="62" name="Text 60"/>
          <p:cNvSpPr/>
          <p:nvPr/>
        </p:nvSpPr>
        <p:spPr>
          <a:xfrm>
            <a:off x="5886034" y="5827576"/>
            <a:ext cx="1388167" cy="234038"/>
          </a:xfrm>
          <a:prstGeom prst="rect">
            <a:avLst/>
          </a:prstGeom>
          <a:noFill/>
          <a:ln/>
        </p:spPr>
        <p:txBody>
          <a:bodyPr wrap="none" lIns="0" tIns="0" rIns="0" bIns="0" rtlCol="0" anchor="t"/>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23/06/2026</a:t>
            </a:r>
            <a:endParaRPr lang="en-US" sz="1150" dirty="0"/>
          </a:p>
        </p:txBody>
      </p:sp>
      <p:sp>
        <p:nvSpPr>
          <p:cNvPr id="63" name="Text 61"/>
          <p:cNvSpPr/>
          <p:nvPr/>
        </p:nvSpPr>
        <p:spPr>
          <a:xfrm>
            <a:off x="511832" y="6325623"/>
            <a:ext cx="6538363" cy="468077"/>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Use this sample data for testing dashboards, balance calculations, category filtering, and report exports during demonstrations.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11832" y="402167"/>
            <a:ext cx="6538363" cy="430168"/>
          </a:xfrm>
          <a:prstGeom prst="rect">
            <a:avLst/>
          </a:prstGeom>
          <a:noFill/>
          <a:ln/>
        </p:spPr>
        <p:txBody>
          <a:bodyPr wrap="none" lIns="0" tIns="0" rIns="0" bIns="0" rtlCol="0" anchor="t"/>
          <a:lstStyle/>
          <a:p>
            <a:pPr algn="l" indent="0" marL="0">
              <a:lnSpc>
                <a:spcPct val="104000"/>
              </a:lnSpc>
              <a:buNone/>
            </a:pPr>
            <a:r>
              <a:rPr lang="en-US" sz="2700" dirty="0">
                <a:solidFill>
                  <a:srgbClr val="000000"/>
                </a:solidFill>
                <a:latin typeface="Source Serif 4 SemiBold" pitchFamily="34" charset="0"/>
                <a:ea typeface="Source Serif 4 SemiBold" pitchFamily="34" charset="-122"/>
                <a:cs typeface="Source Serif 4 SemiBold" pitchFamily="34" charset="-120"/>
              </a:rPr>
              <a:t>Conclusion &amp; Demo Plan</a:t>
            </a:r>
            <a:endParaRPr lang="en-US" sz="2700" dirty="0"/>
          </a:p>
        </p:txBody>
      </p:sp>
      <p:sp>
        <p:nvSpPr>
          <p:cNvPr id="3" name="Text 1"/>
          <p:cNvSpPr/>
          <p:nvPr/>
        </p:nvSpPr>
        <p:spPr>
          <a:xfrm>
            <a:off x="511832" y="1124837"/>
            <a:ext cx="6538363" cy="1170192"/>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Demo flow for evaluation: 1) Show secure signup/login, 2) Add income and expense manually, 3) Demonstrate AI chatbot entry ("I spent 300rs on food"), 4) Filter transactions by category and date, 5) Display totals, balance and category charts, 6) Export a PDF/Excel report, 7) Explain monetization &amp; maintenance. The system emphasizes usability, automation, and portability to suit students and faculty needs.</a:t>
            </a:r>
            <a:endParaRPr lang="en-US" sz="1150" dirty="0"/>
          </a:p>
        </p:txBody>
      </p:sp>
      <p:sp>
        <p:nvSpPr>
          <p:cNvPr id="4" name="Shape 2"/>
          <p:cNvSpPr/>
          <p:nvPr/>
        </p:nvSpPr>
        <p:spPr>
          <a:xfrm>
            <a:off x="511832" y="2459527"/>
            <a:ext cx="3196041" cy="2168625"/>
          </a:xfrm>
          <a:prstGeom prst="roundRect">
            <a:avLst>
              <a:gd name="adj" fmla="val 2832"/>
            </a:avLst>
          </a:prstGeom>
          <a:solidFill>
            <a:srgbClr val="F0D4F7"/>
          </a:solidFill>
          <a:ln w="7877">
            <a:solidFill>
              <a:srgbClr val="D6BADD"/>
            </a:solidFill>
            <a:prstDash val="solid"/>
          </a:ln>
        </p:spPr>
      </p:sp>
      <p:sp>
        <p:nvSpPr>
          <p:cNvPr id="5" name="Text 3"/>
          <p:cNvSpPr/>
          <p:nvPr/>
        </p:nvSpPr>
        <p:spPr>
          <a:xfrm>
            <a:off x="665929" y="2613624"/>
            <a:ext cx="2887846"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Next Steps</a:t>
            </a:r>
            <a:endParaRPr lang="en-US" sz="1350" dirty="0"/>
          </a:p>
        </p:txBody>
      </p:sp>
      <p:sp>
        <p:nvSpPr>
          <p:cNvPr id="6" name="Text 4"/>
          <p:cNvSpPr/>
          <p:nvPr/>
        </p:nvSpPr>
        <p:spPr>
          <a:xfrm>
            <a:off x="665929" y="2916404"/>
            <a:ext cx="2887846" cy="1557651"/>
          </a:xfrm>
          <a:prstGeom prst="rect">
            <a:avLst/>
          </a:prstGeom>
          <a:noFill/>
          <a:ln/>
        </p:spPr>
        <p:txBody>
          <a:bodyPr wrap="square" lIns="0" tIns="0" rIns="0" bIns="0" rtlCol="0" anchor="t">
            <a:normAutofit/>
          </a:bodyPr>
          <a:lstStyle/>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Finalize UI polish and responsive behaviour</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Complete AI intent mapping for common phrases</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Conduct user testing with classmates</a:t>
            </a:r>
            <a:endParaRPr lang="en-US" sz="1150" dirty="0"/>
          </a:p>
          <a:p>
            <a:pPr algn="l" marL="233680" indent="-233680">
              <a:lnSpc>
                <a:spcPct val="133000"/>
              </a:lnSpc>
              <a:buSzPct val="100000"/>
              <a:buChar char="•"/>
            </a:pPr>
            <a:r>
              <a:rPr lang="en-US" sz="1150" dirty="0">
                <a:solidFill>
                  <a:srgbClr val="272525"/>
                </a:solidFill>
                <a:latin typeface="Source Sans 3" pitchFamily="34" charset="0"/>
                <a:ea typeface="Source Sans 3" pitchFamily="34" charset="-122"/>
                <a:cs typeface="Source Sans 3" pitchFamily="34" charset="-120"/>
              </a:rPr>
              <a:t>Prepare demo video and README for submission</a:t>
            </a:r>
            <a:endParaRPr lang="en-US" sz="1150" dirty="0"/>
          </a:p>
        </p:txBody>
      </p:sp>
      <p:sp>
        <p:nvSpPr>
          <p:cNvPr id="7" name="Shape 5"/>
          <p:cNvSpPr/>
          <p:nvPr/>
        </p:nvSpPr>
        <p:spPr>
          <a:xfrm>
            <a:off x="3854092" y="2459527"/>
            <a:ext cx="3196102" cy="2168625"/>
          </a:xfrm>
          <a:prstGeom prst="roundRect">
            <a:avLst>
              <a:gd name="adj" fmla="val 2832"/>
            </a:avLst>
          </a:prstGeom>
          <a:solidFill>
            <a:srgbClr val="F0D4F7"/>
          </a:solidFill>
          <a:ln w="7877">
            <a:solidFill>
              <a:srgbClr val="D6BADD"/>
            </a:solidFill>
            <a:prstDash val="solid"/>
          </a:ln>
        </p:spPr>
      </p:sp>
      <p:sp>
        <p:nvSpPr>
          <p:cNvPr id="8" name="Text 6"/>
          <p:cNvSpPr/>
          <p:nvPr/>
        </p:nvSpPr>
        <p:spPr>
          <a:xfrm>
            <a:off x="4008190" y="2613624"/>
            <a:ext cx="2887908" cy="215084"/>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Source Serif 4 SemiBold" pitchFamily="34" charset="0"/>
                <a:ea typeface="Source Serif 4 SemiBold" pitchFamily="34" charset="-122"/>
                <a:cs typeface="Source Serif 4 SemiBold" pitchFamily="34" charset="-120"/>
              </a:rPr>
              <a:t>Submission</a:t>
            </a:r>
            <a:endParaRPr lang="en-US" sz="1350" dirty="0"/>
          </a:p>
        </p:txBody>
      </p:sp>
      <p:sp>
        <p:nvSpPr>
          <p:cNvPr id="9" name="Text 7"/>
          <p:cNvSpPr/>
          <p:nvPr/>
        </p:nvSpPr>
        <p:spPr>
          <a:xfrm>
            <a:off x="4008190" y="2916404"/>
            <a:ext cx="2887908" cy="702115"/>
          </a:xfrm>
          <a:prstGeom prst="rect">
            <a:avLst/>
          </a:prstGeom>
          <a:noFill/>
          <a:ln/>
        </p:spPr>
        <p:txBody>
          <a:bodyPr wrap="square" lIns="0" tIns="0" rIns="0" bIns="0" rtlCol="0" anchor="t">
            <a:normAutofit/>
          </a:bodyPr>
          <a:lstStyle/>
          <a:p>
            <a:pPr algn="l" indent="0" marL="0">
              <a:lnSpc>
                <a:spcPct val="133000"/>
              </a:lnSpc>
              <a:buNone/>
            </a:pPr>
            <a:r>
              <a:rPr lang="en-US" sz="1150" dirty="0">
                <a:solidFill>
                  <a:srgbClr val="272525"/>
                </a:solidFill>
                <a:latin typeface="Source Sans 3" pitchFamily="34" charset="0"/>
                <a:ea typeface="Source Sans 3" pitchFamily="34" charset="-122"/>
                <a:cs typeface="Source Sans 3" pitchFamily="34" charset="-120"/>
              </a:rPr>
              <a:t>Package code on GitHub with documentation, deployment guide, and sample data for faculty review.</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2026-07-14T03:05:54Z</dcterms:created>
  <dcterms:modified xsi:type="dcterms:W3CDTF">2026-07-14T03:05:54Z</dcterms:modified>
</cp:coreProperties>
</file>